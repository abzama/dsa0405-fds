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3.jpg" ContentType="image/jpg"/>
  <Override PartName="/ppt/media/image4.jpg" ContentType="image/jp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2"/>
  </p:notesMasterIdLst>
  <p:sldIdLst>
    <p:sldId id="259" r:id="rId2"/>
    <p:sldId id="307" r:id="rId3"/>
    <p:sldId id="291" r:id="rId4"/>
    <p:sldId id="300" r:id="rId5"/>
    <p:sldId id="283" r:id="rId6"/>
    <p:sldId id="302" r:id="rId7"/>
    <p:sldId id="312" r:id="rId8"/>
    <p:sldId id="310" r:id="rId9"/>
    <p:sldId id="288" r:id="rId10"/>
    <p:sldId id="25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1B1150-704C-40A5-A33D-FCA084ECAA01}" v="9" dt="2026-06-05T03:58:59.036"/>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89"/>
  </p:normalViewPr>
  <p:slideViewPr>
    <p:cSldViewPr snapToGrid="0">
      <p:cViewPr>
        <p:scale>
          <a:sx n="69" d="100"/>
          <a:sy n="69" d="100"/>
        </p:scale>
        <p:origin x="56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7261C6-C874-4266-8DA4-D5C8AB8D757A}" type="datetimeFigureOut">
              <a:rPr lang="en-US" smtClean="0"/>
              <a:t>7/25/2026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351400-28A9-47BE-8674-65E13802E5D5}" type="slidenum">
              <a:rPr lang="en-US" smtClean="0"/>
              <a:t>‹#›</a:t>
            </a:fld>
            <a:endParaRPr lang="en-US"/>
          </a:p>
        </p:txBody>
      </p:sp>
    </p:spTree>
    <p:extLst>
      <p:ext uri="{BB962C8B-B14F-4D97-AF65-F5344CB8AC3E}">
        <p14:creationId xmlns:p14="http://schemas.microsoft.com/office/powerpoint/2010/main" val="2032614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9710A6-DCAC-4770-83E0-DC1288B0111D}" type="slidenum">
              <a:rPr lang="en-US" smtClean="0"/>
              <a:t>3</a:t>
            </a:fld>
            <a:endParaRPr lang="en-US"/>
          </a:p>
        </p:txBody>
      </p:sp>
    </p:spTree>
    <p:extLst>
      <p:ext uri="{BB962C8B-B14F-4D97-AF65-F5344CB8AC3E}">
        <p14:creationId xmlns:p14="http://schemas.microsoft.com/office/powerpoint/2010/main" val="3714289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9710A6-DCAC-4770-83E0-DC1288B0111D}" type="slidenum">
              <a:rPr lang="en-US" smtClean="0"/>
              <a:t>4</a:t>
            </a:fld>
            <a:endParaRPr lang="en-US"/>
          </a:p>
        </p:txBody>
      </p:sp>
    </p:spTree>
    <p:extLst>
      <p:ext uri="{BB962C8B-B14F-4D97-AF65-F5344CB8AC3E}">
        <p14:creationId xmlns:p14="http://schemas.microsoft.com/office/powerpoint/2010/main" val="14337720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ADA246-63D0-4FD0-A280-893A2FFCA6CE}" type="slidenum">
              <a:rPr lang="en-US" smtClean="0"/>
              <a:t>6</a:t>
            </a:fld>
            <a:endParaRPr lang="en-US"/>
          </a:p>
        </p:txBody>
      </p:sp>
    </p:spTree>
    <p:extLst>
      <p:ext uri="{BB962C8B-B14F-4D97-AF65-F5344CB8AC3E}">
        <p14:creationId xmlns:p14="http://schemas.microsoft.com/office/powerpoint/2010/main" val="6527664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A7247B87-E33C-43FB-81C0-B9993A325063}" type="datetimeFigureOut">
              <a:rPr lang="en-US" smtClean="0"/>
              <a:t>7/25/2026</a:t>
            </a:fld>
            <a:endParaRPr 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34FC169F-4CA2-46DF-ADDB-8E4E1F0B2086}" type="slidenum">
              <a:rPr lang="en-US" smtClean="0"/>
              <a:t>‹#›</a:t>
            </a:fld>
            <a:endParaRPr lang="en-US"/>
          </a:p>
        </p:txBody>
      </p:sp>
    </p:spTree>
    <p:extLst>
      <p:ext uri="{BB962C8B-B14F-4D97-AF65-F5344CB8AC3E}">
        <p14:creationId xmlns:p14="http://schemas.microsoft.com/office/powerpoint/2010/main" val="107892241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247B87-E33C-43FB-81C0-B9993A325063}" type="datetimeFigureOut">
              <a:rPr lang="en-US" smtClean="0"/>
              <a:t>7/25/2026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FC169F-4CA2-46DF-ADDB-8E4E1F0B2086}" type="slidenum">
              <a:rPr lang="en-US" smtClean="0"/>
              <a:t>‹#›</a:t>
            </a:fld>
            <a:endParaRPr lang="en-US"/>
          </a:p>
        </p:txBody>
      </p:sp>
    </p:spTree>
    <p:extLst>
      <p:ext uri="{BB962C8B-B14F-4D97-AF65-F5344CB8AC3E}">
        <p14:creationId xmlns:p14="http://schemas.microsoft.com/office/powerpoint/2010/main" val="24872589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A7247B87-E33C-43FB-81C0-B9993A325063}" type="datetimeFigureOut">
              <a:rPr lang="en-US" smtClean="0"/>
              <a:t>7/25/2026</a:t>
            </a:fld>
            <a:endParaRPr 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8604504" y="5211060"/>
            <a:ext cx="2112264" cy="228600"/>
          </a:xfrm>
        </p:spPr>
        <p:txBody>
          <a:bodyPr/>
          <a:lstStyle/>
          <a:p>
            <a:fld id="{34FC169F-4CA2-46DF-ADDB-8E4E1F0B2086}" type="slidenum">
              <a:rPr lang="en-US" smtClean="0"/>
              <a:t>‹#›</a:t>
            </a:fld>
            <a:endParaRPr lang="en-US"/>
          </a:p>
        </p:txBody>
      </p:sp>
    </p:spTree>
    <p:extLst>
      <p:ext uri="{BB962C8B-B14F-4D97-AF65-F5344CB8AC3E}">
        <p14:creationId xmlns:p14="http://schemas.microsoft.com/office/powerpoint/2010/main" val="43237163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7247B87-E33C-43FB-81C0-B9993A325063}"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FC169F-4CA2-46DF-ADDB-8E4E1F0B2086}" type="slidenum">
              <a:rPr lang="en-US" smtClean="0"/>
              <a:t>‹#›</a:t>
            </a:fld>
            <a:endParaRPr lang="en-US"/>
          </a:p>
        </p:txBody>
      </p:sp>
    </p:spTree>
    <p:extLst>
      <p:ext uri="{BB962C8B-B14F-4D97-AF65-F5344CB8AC3E}">
        <p14:creationId xmlns:p14="http://schemas.microsoft.com/office/powerpoint/2010/main" val="2502845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247B87-E33C-43FB-81C0-B9993A325063}" type="datetimeFigureOut">
              <a:rPr lang="en-US" smtClean="0"/>
              <a:t>7/25/2026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FC169F-4CA2-46DF-ADDB-8E4E1F0B2086}" type="slidenum">
              <a:rPr lang="en-US" smtClean="0"/>
              <a:t>‹#›</a:t>
            </a:fld>
            <a:endParaRPr lang="en-US"/>
          </a:p>
        </p:txBody>
      </p:sp>
    </p:spTree>
    <p:extLst>
      <p:ext uri="{BB962C8B-B14F-4D97-AF65-F5344CB8AC3E}">
        <p14:creationId xmlns:p14="http://schemas.microsoft.com/office/powerpoint/2010/main" val="3914597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7247B87-E33C-43FB-81C0-B9993A325063}" type="datetimeFigureOut">
              <a:rPr lang="en-US" smtClean="0"/>
              <a:t>7/25/2026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FC169F-4CA2-46DF-ADDB-8E4E1F0B2086}" type="slidenum">
              <a:rPr lang="en-US" smtClean="0"/>
              <a:t>‹#›</a:t>
            </a:fld>
            <a:endParaRPr lang="en-US"/>
          </a:p>
        </p:txBody>
      </p:sp>
    </p:spTree>
    <p:extLst>
      <p:ext uri="{BB962C8B-B14F-4D97-AF65-F5344CB8AC3E}">
        <p14:creationId xmlns:p14="http://schemas.microsoft.com/office/powerpoint/2010/main" val="1399535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247B87-E33C-43FB-81C0-B9993A325063}" type="datetimeFigureOut">
              <a:rPr lang="en-US" smtClean="0"/>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FC169F-4CA2-46DF-ADDB-8E4E1F0B2086}" type="slidenum">
              <a:rPr lang="en-US" smtClean="0"/>
              <a:t>‹#›</a:t>
            </a:fld>
            <a:endParaRPr lang="en-US"/>
          </a:p>
        </p:txBody>
      </p:sp>
    </p:spTree>
    <p:extLst>
      <p:ext uri="{BB962C8B-B14F-4D97-AF65-F5344CB8AC3E}">
        <p14:creationId xmlns:p14="http://schemas.microsoft.com/office/powerpoint/2010/main" val="4055456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A7247B87-E33C-43FB-81C0-B9993A325063}" type="datetimeFigureOut">
              <a:rPr lang="en-US" smtClean="0"/>
              <a:t>7/25/2026</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34FC169F-4CA2-46DF-ADDB-8E4E1F0B2086}" type="slidenum">
              <a:rPr lang="en-US" smtClean="0"/>
              <a:t>‹#›</a:t>
            </a:fld>
            <a:endParaRPr 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20920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A7247B87-E33C-43FB-81C0-B9993A325063}" type="datetimeFigureOut">
              <a:rPr lang="en-US" smtClean="0"/>
              <a:t>7/25/2026</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34FC169F-4CA2-46DF-ADDB-8E4E1F0B2086}" type="slidenum">
              <a:rPr lang="en-US" smtClean="0"/>
              <a:t>‹#›</a:t>
            </a:fld>
            <a:endParaRPr 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8653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247B87-E33C-43FB-81C0-B9993A325063}"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C169F-4CA2-46DF-ADDB-8E4E1F0B2086}" type="slidenum">
              <a:rPr lang="en-US" smtClean="0"/>
              <a:t>‹#›</a:t>
            </a:fld>
            <a:endParaRPr lang="en-US"/>
          </a:p>
        </p:txBody>
      </p:sp>
    </p:spTree>
    <p:extLst>
      <p:ext uri="{BB962C8B-B14F-4D97-AF65-F5344CB8AC3E}">
        <p14:creationId xmlns:p14="http://schemas.microsoft.com/office/powerpoint/2010/main" val="1410005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247B87-E33C-43FB-81C0-B9993A325063}"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C169F-4CA2-46DF-ADDB-8E4E1F0B2086}" type="slidenum">
              <a:rPr lang="en-US" smtClean="0"/>
              <a:t>‹#›</a:t>
            </a:fld>
            <a:endParaRPr lang="en-US"/>
          </a:p>
        </p:txBody>
      </p:sp>
    </p:spTree>
    <p:extLst>
      <p:ext uri="{BB962C8B-B14F-4D97-AF65-F5344CB8AC3E}">
        <p14:creationId xmlns:p14="http://schemas.microsoft.com/office/powerpoint/2010/main" val="3608968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A7247B87-E33C-43FB-81C0-B9993A325063}" type="datetimeFigureOut">
              <a:rPr lang="en-US" smtClean="0"/>
              <a:t>7/25/2026</a:t>
            </a:fld>
            <a:endParaRPr 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FC169F-4CA2-46DF-ADDB-8E4E1F0B2086}" type="slidenum">
              <a:rPr lang="en-US" smtClean="0"/>
              <a:t>‹#›</a:t>
            </a:fld>
            <a:endParaRPr lang="en-US"/>
          </a:p>
        </p:txBody>
      </p:sp>
    </p:spTree>
    <p:extLst>
      <p:ext uri="{BB962C8B-B14F-4D97-AF65-F5344CB8AC3E}">
        <p14:creationId xmlns:p14="http://schemas.microsoft.com/office/powerpoint/2010/main" val="325282102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11226" y="4744645"/>
            <a:ext cx="4343399" cy="2187778"/>
          </a:xfrm>
          <a:prstGeom prst="rect">
            <a:avLst/>
          </a:prstGeom>
        </p:spPr>
        <p:txBody>
          <a:bodyPr vert="horz" wrap="square" lIns="0" tIns="78740" rIns="0" bIns="0" rtlCol="0">
            <a:spAutoFit/>
          </a:bodyPr>
          <a:lstStyle/>
          <a:p>
            <a:pPr marL="171450">
              <a:lnSpc>
                <a:spcPct val="100000"/>
              </a:lnSpc>
              <a:spcBef>
                <a:spcPts val="620"/>
              </a:spcBef>
            </a:pPr>
            <a:r>
              <a:rPr sz="2400" b="1" spc="-10" dirty="0">
                <a:solidFill>
                  <a:srgbClr val="0C0C0C"/>
                </a:solidFill>
                <a:latin typeface="Times New Roman"/>
                <a:cs typeface="Times New Roman"/>
              </a:rPr>
              <a:t>Presented</a:t>
            </a:r>
            <a:r>
              <a:rPr sz="2400" b="1" spc="-80" dirty="0">
                <a:solidFill>
                  <a:srgbClr val="0C0C0C"/>
                </a:solidFill>
                <a:latin typeface="Times New Roman"/>
                <a:cs typeface="Times New Roman"/>
              </a:rPr>
              <a:t> </a:t>
            </a:r>
            <a:r>
              <a:rPr sz="2400" b="1" spc="-25" dirty="0">
                <a:solidFill>
                  <a:srgbClr val="0C0C0C"/>
                </a:solidFill>
                <a:latin typeface="Times New Roman"/>
                <a:cs typeface="Times New Roman"/>
              </a:rPr>
              <a:t>by:</a:t>
            </a:r>
            <a:endParaRPr lang="en-US" sz="2400" b="1" spc="-25" dirty="0">
              <a:solidFill>
                <a:srgbClr val="0C0C0C"/>
              </a:solidFill>
              <a:latin typeface="Times New Roman"/>
              <a:cs typeface="Times New Roman"/>
            </a:endParaRPr>
          </a:p>
          <a:p>
            <a:pPr marL="171450">
              <a:lnSpc>
                <a:spcPct val="100000"/>
              </a:lnSpc>
              <a:spcBef>
                <a:spcPts val="620"/>
              </a:spcBef>
            </a:pPr>
            <a:r>
              <a:rPr lang="en-IN" sz="1600" b="1" spc="-25" dirty="0">
                <a:solidFill>
                  <a:srgbClr val="0C0C0C"/>
                </a:solidFill>
                <a:latin typeface="Times New Roman"/>
                <a:cs typeface="Times New Roman"/>
              </a:rPr>
              <a:t>V. BOOPATHY KHANISHK (192524311)</a:t>
            </a:r>
          </a:p>
          <a:p>
            <a:pPr marL="171450">
              <a:lnSpc>
                <a:spcPct val="100000"/>
              </a:lnSpc>
              <a:spcBef>
                <a:spcPts val="620"/>
              </a:spcBef>
            </a:pPr>
            <a:r>
              <a:rPr lang="en-IN" sz="1600" b="1" spc="-25" dirty="0">
                <a:solidFill>
                  <a:srgbClr val="0C0C0C"/>
                </a:solidFill>
                <a:latin typeface="Times New Roman"/>
                <a:cs typeface="Times New Roman"/>
              </a:rPr>
              <a:t>SYED MUHAFIZ A (192472282)</a:t>
            </a:r>
          </a:p>
          <a:p>
            <a:pPr marL="171450">
              <a:lnSpc>
                <a:spcPct val="100000"/>
              </a:lnSpc>
              <a:spcBef>
                <a:spcPts val="620"/>
              </a:spcBef>
            </a:pPr>
            <a:r>
              <a:rPr lang="en-IN" sz="1600" b="1" spc="-25" dirty="0">
                <a:solidFill>
                  <a:srgbClr val="0C0C0C"/>
                </a:solidFill>
                <a:latin typeface="Times New Roman"/>
                <a:cs typeface="Times New Roman"/>
              </a:rPr>
              <a:t>H.MOHAMED FAAIZ (192524099)</a:t>
            </a:r>
          </a:p>
          <a:p>
            <a:pPr marL="171450">
              <a:lnSpc>
                <a:spcPct val="100000"/>
              </a:lnSpc>
              <a:spcBef>
                <a:spcPts val="620"/>
              </a:spcBef>
            </a:pPr>
            <a:r>
              <a:rPr lang="en-US" sz="1600" b="1" spc="-25" dirty="0">
                <a:solidFill>
                  <a:srgbClr val="0C0C0C"/>
                </a:solidFill>
                <a:latin typeface="Times New Roman"/>
                <a:cs typeface="Times New Roman"/>
              </a:rPr>
              <a:t>A ABZAM (192573029)</a:t>
            </a:r>
          </a:p>
          <a:p>
            <a:pPr marL="171450">
              <a:lnSpc>
                <a:spcPct val="100000"/>
              </a:lnSpc>
              <a:spcBef>
                <a:spcPts val="620"/>
              </a:spcBef>
            </a:pPr>
            <a:endParaRPr lang="en-IN" sz="2400" b="1" spc="-25" dirty="0">
              <a:solidFill>
                <a:srgbClr val="0C0C0C"/>
              </a:solidFill>
              <a:latin typeface="Times New Roman"/>
              <a:cs typeface="Times New Roman"/>
            </a:endParaRPr>
          </a:p>
        </p:txBody>
      </p:sp>
      <p:pic>
        <p:nvPicPr>
          <p:cNvPr id="3" name="object 3"/>
          <p:cNvPicPr/>
          <p:nvPr/>
        </p:nvPicPr>
        <p:blipFill>
          <a:blip r:embed="rId2" cstate="print"/>
          <a:stretch>
            <a:fillRect/>
          </a:stretch>
        </p:blipFill>
        <p:spPr>
          <a:xfrm>
            <a:off x="633544" y="457684"/>
            <a:ext cx="1135116" cy="1342883"/>
          </a:xfrm>
          <a:prstGeom prst="rect">
            <a:avLst/>
          </a:prstGeom>
        </p:spPr>
      </p:pic>
      <p:pic>
        <p:nvPicPr>
          <p:cNvPr id="4" name="object 4"/>
          <p:cNvPicPr/>
          <p:nvPr/>
        </p:nvPicPr>
        <p:blipFill>
          <a:blip r:embed="rId3" cstate="print"/>
          <a:stretch>
            <a:fillRect/>
          </a:stretch>
        </p:blipFill>
        <p:spPr>
          <a:xfrm>
            <a:off x="9847061" y="474733"/>
            <a:ext cx="1520113" cy="1342883"/>
          </a:xfrm>
          <a:prstGeom prst="rect">
            <a:avLst/>
          </a:prstGeom>
        </p:spPr>
      </p:pic>
      <p:sp>
        <p:nvSpPr>
          <p:cNvPr id="7" name="object 7"/>
          <p:cNvSpPr txBox="1">
            <a:spLocks noGrp="1"/>
          </p:cNvSpPr>
          <p:nvPr>
            <p:ph type="title"/>
          </p:nvPr>
        </p:nvSpPr>
        <p:spPr>
          <a:xfrm>
            <a:off x="3876837" y="309483"/>
            <a:ext cx="4017010" cy="452120"/>
          </a:xfrm>
          <a:prstGeom prst="rect">
            <a:avLst/>
          </a:prstGeom>
        </p:spPr>
        <p:txBody>
          <a:bodyPr vert="horz" wrap="square" lIns="0" tIns="12700" rIns="0" bIns="0" rtlCol="0">
            <a:spAutoFit/>
          </a:bodyPr>
          <a:lstStyle/>
          <a:p>
            <a:pPr marL="12700">
              <a:lnSpc>
                <a:spcPct val="100000"/>
              </a:lnSpc>
              <a:spcBef>
                <a:spcPts val="100"/>
              </a:spcBef>
            </a:pPr>
            <a:r>
              <a:rPr sz="2800" b="1" spc="-25" dirty="0">
                <a:latin typeface="Times New Roman" panose="02020603050405020304" pitchFamily="18" charset="0"/>
                <a:cs typeface="Times New Roman" panose="02020603050405020304" pitchFamily="18" charset="0"/>
              </a:rPr>
              <a:t>SIMATS</a:t>
            </a:r>
            <a:r>
              <a:rPr sz="2800" b="1" spc="-125" dirty="0">
                <a:latin typeface="Times New Roman" panose="02020603050405020304" pitchFamily="18" charset="0"/>
                <a:cs typeface="Times New Roman" panose="02020603050405020304" pitchFamily="18" charset="0"/>
              </a:rPr>
              <a:t> </a:t>
            </a:r>
            <a:r>
              <a:rPr sz="2800" b="1" spc="-10" dirty="0">
                <a:latin typeface="Times New Roman" panose="02020603050405020304" pitchFamily="18" charset="0"/>
                <a:cs typeface="Times New Roman" panose="02020603050405020304" pitchFamily="18" charset="0"/>
              </a:rPr>
              <a:t>ENGINEERING</a:t>
            </a:r>
            <a:endParaRPr sz="2800" b="1" dirty="0">
              <a:latin typeface="Times New Roman" panose="02020603050405020304" pitchFamily="18" charset="0"/>
              <a:cs typeface="Times New Roman" panose="02020603050405020304" pitchFamily="18" charset="0"/>
            </a:endParaRPr>
          </a:p>
        </p:txBody>
      </p:sp>
      <p:sp>
        <p:nvSpPr>
          <p:cNvPr id="5" name="object 5"/>
          <p:cNvSpPr txBox="1">
            <a:spLocks noGrp="1"/>
          </p:cNvSpPr>
          <p:nvPr>
            <p:ph idx="1"/>
          </p:nvPr>
        </p:nvSpPr>
        <p:spPr>
          <a:xfrm>
            <a:off x="633544" y="1999015"/>
            <a:ext cx="11367174" cy="1120178"/>
          </a:xfrm>
          <a:prstGeom prst="rect">
            <a:avLst/>
          </a:prstGeom>
        </p:spPr>
        <p:txBody>
          <a:bodyPr vert="horz" wrap="square" lIns="0" tIns="133985" rIns="0" bIns="0" rtlCol="0">
            <a:spAutoFit/>
          </a:bodyPr>
          <a:lstStyle/>
          <a:p>
            <a:pPr marL="0" marR="812800" indent="0" algn="ctr">
              <a:lnSpc>
                <a:spcPct val="100000"/>
              </a:lnSpc>
              <a:spcBef>
                <a:spcPts val="1055"/>
              </a:spcBef>
              <a:buNone/>
            </a:pPr>
            <a:r>
              <a:rPr lang="en-US" sz="3200" b="1" dirty="0" err="1">
                <a:latin typeface="Times New Roman" panose="02020603050405020304" pitchFamily="18" charset="0"/>
                <a:cs typeface="Times New Roman" panose="02020603050405020304" pitchFamily="18" charset="0"/>
              </a:rPr>
              <a:t>NutriTrace</a:t>
            </a:r>
            <a:r>
              <a:rPr lang="en-US" sz="3200" b="1" dirty="0">
                <a:latin typeface="Times New Roman" panose="02020603050405020304" pitchFamily="18" charset="0"/>
                <a:cs typeface="Times New Roman" panose="02020603050405020304" pitchFamily="18" charset="0"/>
              </a:rPr>
              <a:t> : Full-Stack Data Engine for Global Food Processing and Additive Risk Analytics</a:t>
            </a:r>
          </a:p>
        </p:txBody>
      </p:sp>
      <p:sp>
        <p:nvSpPr>
          <p:cNvPr id="8" name="object 8"/>
          <p:cNvSpPr txBox="1"/>
          <p:nvPr/>
        </p:nvSpPr>
        <p:spPr>
          <a:xfrm>
            <a:off x="1768660" y="828675"/>
            <a:ext cx="8078401" cy="320601"/>
          </a:xfrm>
          <a:prstGeom prst="rect">
            <a:avLst/>
          </a:prstGeom>
        </p:spPr>
        <p:txBody>
          <a:bodyPr vert="horz" wrap="square" lIns="0" tIns="12700" rIns="0" bIns="0" rtlCol="0">
            <a:spAutoFit/>
          </a:bodyPr>
          <a:lstStyle/>
          <a:p>
            <a:pPr marL="1123315" marR="5080" indent="-1111250">
              <a:lnSpc>
                <a:spcPct val="100000"/>
              </a:lnSpc>
              <a:spcBef>
                <a:spcPts val="100"/>
              </a:spcBef>
            </a:pPr>
            <a:r>
              <a:rPr sz="2000" b="1" spc="-55" dirty="0">
                <a:latin typeface="Times New Roman"/>
                <a:cs typeface="Times New Roman"/>
              </a:rPr>
              <a:t>SAVEETHA</a:t>
            </a:r>
            <a:r>
              <a:rPr sz="2000" b="1" spc="-110" dirty="0">
                <a:latin typeface="Times New Roman"/>
                <a:cs typeface="Times New Roman"/>
              </a:rPr>
              <a:t> </a:t>
            </a:r>
            <a:r>
              <a:rPr sz="2000" b="1" spc="-10" dirty="0">
                <a:latin typeface="Times New Roman"/>
                <a:cs typeface="Times New Roman"/>
              </a:rPr>
              <a:t>INSTITUTE</a:t>
            </a:r>
            <a:r>
              <a:rPr sz="2000" b="1" dirty="0">
                <a:latin typeface="Times New Roman"/>
                <a:cs typeface="Times New Roman"/>
              </a:rPr>
              <a:t> OF</a:t>
            </a:r>
            <a:r>
              <a:rPr sz="2000" b="1" spc="-75" dirty="0">
                <a:latin typeface="Times New Roman"/>
                <a:cs typeface="Times New Roman"/>
              </a:rPr>
              <a:t> </a:t>
            </a:r>
            <a:r>
              <a:rPr sz="2000" b="1" spc="-25" dirty="0">
                <a:latin typeface="Times New Roman"/>
                <a:cs typeface="Times New Roman"/>
              </a:rPr>
              <a:t>MEDICAL</a:t>
            </a:r>
            <a:r>
              <a:rPr lang="en-US" sz="2000" b="1" spc="-25" dirty="0">
                <a:latin typeface="Times New Roman"/>
                <a:cs typeface="Times New Roman"/>
              </a:rPr>
              <a:t> </a:t>
            </a:r>
            <a:r>
              <a:rPr sz="2000" b="1" spc="-220" dirty="0">
                <a:latin typeface="Times New Roman"/>
                <a:cs typeface="Times New Roman"/>
              </a:rPr>
              <a:t> </a:t>
            </a:r>
            <a:r>
              <a:rPr sz="2000" b="1" spc="-25" dirty="0">
                <a:latin typeface="Times New Roman"/>
                <a:cs typeface="Times New Roman"/>
              </a:rPr>
              <a:t>AND TECHNICAL</a:t>
            </a:r>
            <a:r>
              <a:rPr sz="2000" b="1" spc="-55" dirty="0">
                <a:latin typeface="Times New Roman"/>
                <a:cs typeface="Times New Roman"/>
              </a:rPr>
              <a:t> </a:t>
            </a:r>
            <a:r>
              <a:rPr sz="2000" b="1" spc="-10" dirty="0">
                <a:latin typeface="Times New Roman"/>
                <a:cs typeface="Times New Roman"/>
              </a:rPr>
              <a:t>SCIENCES</a:t>
            </a:r>
            <a:endParaRPr sz="2000" dirty="0">
              <a:latin typeface="Times New Roman"/>
              <a:cs typeface="Times New Roman"/>
            </a:endParaRPr>
          </a:p>
        </p:txBody>
      </p:sp>
      <p:sp>
        <p:nvSpPr>
          <p:cNvPr id="9" name="TextBox 8">
            <a:extLst>
              <a:ext uri="{FF2B5EF4-FFF2-40B4-BE49-F238E27FC236}">
                <a16:creationId xmlns:a16="http://schemas.microsoft.com/office/drawing/2014/main" id="{C72D1E7D-30CD-1AD9-B818-0D96B874CCA3}"/>
              </a:ext>
            </a:extLst>
          </p:cNvPr>
          <p:cNvSpPr txBox="1"/>
          <p:nvPr/>
        </p:nvSpPr>
        <p:spPr>
          <a:xfrm>
            <a:off x="760616" y="4858972"/>
            <a:ext cx="3820160" cy="1354217"/>
          </a:xfrm>
          <a:prstGeom prst="rect">
            <a:avLst/>
          </a:prstGeom>
          <a:noFill/>
        </p:spPr>
        <p:txBody>
          <a:bodyPr wrap="square">
            <a:spAutoFit/>
          </a:bodyPr>
          <a:lstStyle/>
          <a:p>
            <a:pPr marL="171450">
              <a:lnSpc>
                <a:spcPct val="100000"/>
              </a:lnSpc>
              <a:spcBef>
                <a:spcPts val="620"/>
              </a:spcBef>
            </a:pPr>
            <a:r>
              <a:rPr lang="en-US" sz="2400" b="1" spc="-10" dirty="0">
                <a:solidFill>
                  <a:srgbClr val="0C0C0C"/>
                </a:solidFill>
                <a:latin typeface="Times New Roman"/>
                <a:cs typeface="Times New Roman"/>
              </a:rPr>
              <a:t>Guided</a:t>
            </a:r>
            <a:r>
              <a:rPr lang="en-US" sz="2400" b="1" spc="-80" dirty="0">
                <a:solidFill>
                  <a:srgbClr val="0C0C0C"/>
                </a:solidFill>
                <a:latin typeface="Times New Roman"/>
                <a:cs typeface="Times New Roman"/>
              </a:rPr>
              <a:t> </a:t>
            </a:r>
            <a:r>
              <a:rPr lang="en-US" sz="2400" b="1" spc="-25" dirty="0">
                <a:solidFill>
                  <a:srgbClr val="0C0C0C"/>
                </a:solidFill>
                <a:latin typeface="Times New Roman"/>
                <a:cs typeface="Times New Roman"/>
              </a:rPr>
              <a:t>by:</a:t>
            </a:r>
          </a:p>
          <a:p>
            <a:pPr marL="171450">
              <a:lnSpc>
                <a:spcPct val="100000"/>
              </a:lnSpc>
              <a:spcBef>
                <a:spcPts val="620"/>
              </a:spcBef>
            </a:pPr>
            <a:r>
              <a:rPr lang="en-US" sz="2400" b="1" spc="-25" dirty="0">
                <a:solidFill>
                  <a:srgbClr val="0C0C0C"/>
                </a:solidFill>
                <a:latin typeface="Times New Roman"/>
                <a:cs typeface="Times New Roman"/>
              </a:rPr>
              <a:t>Dr. </a:t>
            </a:r>
            <a:r>
              <a:rPr lang="en-US" sz="2400" b="1" spc="-25" dirty="0" err="1">
                <a:solidFill>
                  <a:srgbClr val="0C0C0C"/>
                </a:solidFill>
                <a:latin typeface="Times New Roman"/>
                <a:cs typeface="Times New Roman"/>
              </a:rPr>
              <a:t>Krishnaraj</a:t>
            </a:r>
            <a:r>
              <a:rPr lang="en-US" sz="2400" b="1" spc="-25" dirty="0">
                <a:solidFill>
                  <a:srgbClr val="0C0C0C"/>
                </a:solidFill>
                <a:latin typeface="Times New Roman"/>
                <a:cs typeface="Times New Roman"/>
              </a:rPr>
              <a:t> </a:t>
            </a:r>
            <a:r>
              <a:rPr lang="en-US" sz="2400" b="1" spc="-25" dirty="0" err="1">
                <a:solidFill>
                  <a:srgbClr val="0C0C0C"/>
                </a:solidFill>
                <a:latin typeface="Times New Roman"/>
                <a:cs typeface="Times New Roman"/>
              </a:rPr>
              <a:t>Mony</a:t>
            </a:r>
            <a:endParaRPr lang="en-US" sz="2400" b="1" spc="-25" dirty="0">
              <a:solidFill>
                <a:srgbClr val="0C0C0C"/>
              </a:solidFill>
              <a:latin typeface="Times New Roman"/>
              <a:cs typeface="Times New Roman"/>
            </a:endParaRPr>
          </a:p>
          <a:p>
            <a:pPr marL="171450">
              <a:lnSpc>
                <a:spcPct val="100000"/>
              </a:lnSpc>
              <a:spcBef>
                <a:spcPts val="620"/>
              </a:spcBef>
            </a:pPr>
            <a:r>
              <a:rPr lang="en-US" sz="2400" b="1" spc="-25" dirty="0">
                <a:solidFill>
                  <a:srgbClr val="0C0C0C"/>
                </a:solidFill>
                <a:latin typeface="Times New Roman"/>
                <a:cs typeface="Times New Roman"/>
              </a:rPr>
              <a:t>Associate Professor/CSE</a:t>
            </a:r>
            <a:endParaRPr lang="en-US" sz="2400" b="1" dirty="0">
              <a:latin typeface="Times New Roman"/>
              <a:cs typeface="Times New Roman"/>
            </a:endParaRPr>
          </a:p>
        </p:txBody>
      </p:sp>
      <p:sp>
        <p:nvSpPr>
          <p:cNvPr id="12" name="TextBox 11">
            <a:extLst>
              <a:ext uri="{FF2B5EF4-FFF2-40B4-BE49-F238E27FC236}">
                <a16:creationId xmlns:a16="http://schemas.microsoft.com/office/drawing/2014/main" id="{302DF3EC-29F0-2899-A22C-844351DA543C}"/>
              </a:ext>
            </a:extLst>
          </p:cNvPr>
          <p:cNvSpPr txBox="1"/>
          <p:nvPr/>
        </p:nvSpPr>
        <p:spPr>
          <a:xfrm>
            <a:off x="2159447" y="3600355"/>
            <a:ext cx="7045013" cy="1077218"/>
          </a:xfrm>
          <a:prstGeom prst="rect">
            <a:avLst/>
          </a:prstGeom>
          <a:noFill/>
        </p:spPr>
        <p:txBody>
          <a:bodyPr wrap="square">
            <a:spAutoFit/>
          </a:bodyPr>
          <a:lstStyle/>
          <a:p>
            <a:pPr marL="0" indent="0" algn="ctr">
              <a:lnSpc>
                <a:spcPct val="100000"/>
              </a:lnSpc>
              <a:spcBef>
                <a:spcPts val="35"/>
              </a:spcBef>
              <a:buNone/>
            </a:pPr>
            <a:r>
              <a:rPr lang="en-US" sz="2800" b="1" dirty="0">
                <a:latin typeface="Times New Roman" panose="02020603050405020304" pitchFamily="18" charset="0"/>
                <a:cs typeface="Times New Roman" panose="02020603050405020304" pitchFamily="18" charset="0"/>
              </a:rPr>
              <a:t>DSA04 – Fundamentals of Data Science</a:t>
            </a:r>
          </a:p>
          <a:p>
            <a:pPr marL="0" indent="0" algn="ctr">
              <a:lnSpc>
                <a:spcPct val="100000"/>
              </a:lnSpc>
              <a:spcBef>
                <a:spcPts val="35"/>
              </a:spcBef>
              <a:buNone/>
            </a:pPr>
            <a:endParaRPr lang="en-US" dirty="0">
              <a:latin typeface="Times New Roman" panose="02020603050405020304" pitchFamily="18" charset="0"/>
              <a:cs typeface="Times New Roman" panose="02020603050405020304" pitchFamily="18" charset="0"/>
            </a:endParaRPr>
          </a:p>
          <a:p>
            <a:pPr marL="0" indent="0" algn="ctr">
              <a:lnSpc>
                <a:spcPct val="100000"/>
              </a:lnSpc>
              <a:spcBef>
                <a:spcPts val="35"/>
              </a:spcBef>
              <a:buNone/>
            </a:pPr>
            <a:r>
              <a:rPr lang="en-US" b="1" dirty="0">
                <a:latin typeface="Times New Roman" panose="02020603050405020304" pitchFamily="18" charset="0"/>
                <a:cs typeface="Times New Roman" panose="02020603050405020304" pitchFamily="18" charset="0"/>
              </a:rPr>
              <a:t>Date : July 25</a:t>
            </a:r>
            <a:r>
              <a:rPr lang="en-US" b="1" baseline="30000" dirty="0">
                <a:latin typeface="Times New Roman" panose="02020603050405020304" pitchFamily="18" charset="0"/>
                <a:cs typeface="Times New Roman" panose="02020603050405020304" pitchFamily="18" charset="0"/>
              </a:rPr>
              <a:t>th</a:t>
            </a:r>
            <a:r>
              <a:rPr lang="en-US" b="1" dirty="0">
                <a:latin typeface="Times New Roman" panose="02020603050405020304" pitchFamily="18" charset="0"/>
                <a:cs typeface="Times New Roman" panose="02020603050405020304" pitchFamily="18" charset="0"/>
              </a:rPr>
              <a:t> ,2026.                     </a:t>
            </a:r>
            <a:endParaRPr lang="en-US"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57F31-D3AF-B52F-A2BD-E8777E4DBE9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7FD41B-EDC8-670C-E8B5-F0DD19EB4C8B}"/>
              </a:ext>
            </a:extLst>
          </p:cNvPr>
          <p:cNvSpPr txBox="1"/>
          <p:nvPr/>
        </p:nvSpPr>
        <p:spPr>
          <a:xfrm>
            <a:off x="-157734" y="369581"/>
            <a:ext cx="12191999"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INTRODUCTION</a:t>
            </a:r>
          </a:p>
        </p:txBody>
      </p:sp>
      <p:pic>
        <p:nvPicPr>
          <p:cNvPr id="4" name="object 4">
            <a:extLst>
              <a:ext uri="{FF2B5EF4-FFF2-40B4-BE49-F238E27FC236}">
                <a16:creationId xmlns:a16="http://schemas.microsoft.com/office/drawing/2014/main" id="{2FE09E4A-60B1-488D-173F-29EDA0E1957B}"/>
              </a:ext>
            </a:extLst>
          </p:cNvPr>
          <p:cNvPicPr/>
          <p:nvPr/>
        </p:nvPicPr>
        <p:blipFill>
          <a:blip r:embed="rId2" cstate="print"/>
          <a:stretch>
            <a:fillRect/>
          </a:stretch>
        </p:blipFill>
        <p:spPr>
          <a:xfrm>
            <a:off x="357352" y="13494"/>
            <a:ext cx="1103582" cy="1342897"/>
          </a:xfrm>
          <a:prstGeom prst="rect">
            <a:avLst/>
          </a:prstGeom>
        </p:spPr>
      </p:pic>
      <p:pic>
        <p:nvPicPr>
          <p:cNvPr id="5" name="object 5">
            <a:extLst>
              <a:ext uri="{FF2B5EF4-FFF2-40B4-BE49-F238E27FC236}">
                <a16:creationId xmlns:a16="http://schemas.microsoft.com/office/drawing/2014/main" id="{8A4C89D2-4AC4-C0E2-9A44-A0305FCA50CA}"/>
              </a:ext>
            </a:extLst>
          </p:cNvPr>
          <p:cNvPicPr/>
          <p:nvPr/>
        </p:nvPicPr>
        <p:blipFill>
          <a:blip r:embed="rId3" cstate="print"/>
          <a:stretch>
            <a:fillRect/>
          </a:stretch>
        </p:blipFill>
        <p:spPr>
          <a:xfrm>
            <a:off x="10514203" y="191643"/>
            <a:ext cx="1520062" cy="1342897"/>
          </a:xfrm>
          <a:prstGeom prst="rect">
            <a:avLst/>
          </a:prstGeom>
        </p:spPr>
      </p:pic>
      <p:sp>
        <p:nvSpPr>
          <p:cNvPr id="10" name="AutoShape 4" descr="Image of ">
            <a:extLst>
              <a:ext uri="{FF2B5EF4-FFF2-40B4-BE49-F238E27FC236}">
                <a16:creationId xmlns:a16="http://schemas.microsoft.com/office/drawing/2014/main" id="{8045CEB3-3154-BC91-5ECD-890C06CEC04F}"/>
              </a:ext>
            </a:extLst>
          </p:cNvPr>
          <p:cNvSpPr>
            <a:spLocks noChangeAspect="1" noChangeArrowheads="1"/>
          </p:cNvSpPr>
          <p:nvPr/>
        </p:nvSpPr>
        <p:spPr bwMode="auto">
          <a:xfrm>
            <a:off x="2641600" y="2971800"/>
            <a:ext cx="1239520" cy="123952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Rectangle 3">
            <a:extLst>
              <a:ext uri="{FF2B5EF4-FFF2-40B4-BE49-F238E27FC236}">
                <a16:creationId xmlns:a16="http://schemas.microsoft.com/office/drawing/2014/main" id="{2FCC9CA0-F155-2A91-3908-6B6BC9E3C864}"/>
              </a:ext>
            </a:extLst>
          </p:cNvPr>
          <p:cNvSpPr>
            <a:spLocks noChangeArrowheads="1"/>
          </p:cNvSpPr>
          <p:nvPr/>
        </p:nvSpPr>
        <p:spPr bwMode="auto">
          <a:xfrm>
            <a:off x="357351" y="1609347"/>
            <a:ext cx="7696757"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b="1" dirty="0">
                <a:latin typeface="Times New Roman" panose="02020603050405020304" pitchFamily="18" charset="0"/>
                <a:cs typeface="Times New Roman" panose="02020603050405020304" pitchFamily="18" charset="0"/>
              </a:rPr>
              <a:t>1. The Problem Beyond Calories:</a:t>
            </a:r>
            <a:r>
              <a:rPr lang="en-IN" dirty="0">
                <a:latin typeface="Times New Roman" panose="02020603050405020304" pitchFamily="18" charset="0"/>
                <a:cs typeface="Times New Roman" panose="02020603050405020304" pitchFamily="18" charset="0"/>
              </a:rPr>
              <a:t> Traditional health apps only count macros, ignoring hidden chemical preservatives, synthetic dyes, and ultra-processing risks.</a:t>
            </a:r>
          </a:p>
          <a:p>
            <a:r>
              <a:rPr lang="en-IN" b="1" dirty="0">
                <a:latin typeface="Times New Roman" panose="02020603050405020304" pitchFamily="18" charset="0"/>
                <a:cs typeface="Times New Roman" panose="02020603050405020304" pitchFamily="18" charset="0"/>
              </a:rPr>
              <a:t>2. Visual OCR &amp; NLP Parsing:</a:t>
            </a:r>
            <a:r>
              <a:rPr lang="en-IN" dirty="0">
                <a:latin typeface="Times New Roman" panose="02020603050405020304" pitchFamily="18" charset="0"/>
                <a:cs typeface="Times New Roman" panose="02020603050405020304" pitchFamily="18" charset="0"/>
              </a:rPr>
              <a:t> Users simply scan any food label; </a:t>
            </a:r>
            <a:r>
              <a:rPr lang="en-IN" dirty="0" err="1">
                <a:latin typeface="Times New Roman" panose="02020603050405020304" pitchFamily="18" charset="0"/>
                <a:cs typeface="Times New Roman" panose="02020603050405020304" pitchFamily="18" charset="0"/>
              </a:rPr>
              <a:t>NutriTrace’s</a:t>
            </a:r>
            <a:r>
              <a:rPr lang="en-IN" dirty="0">
                <a:latin typeface="Times New Roman" panose="02020603050405020304" pitchFamily="18" charset="0"/>
                <a:cs typeface="Times New Roman" panose="02020603050405020304" pitchFamily="18" charset="0"/>
              </a:rPr>
              <a:t> AI pipeline automatically extracts complex ingredients and maps hidden E-numbers.</a:t>
            </a:r>
          </a:p>
          <a:p>
            <a:r>
              <a:rPr lang="en-IN" b="1" dirty="0">
                <a:latin typeface="Times New Roman" panose="02020603050405020304" pitchFamily="18" charset="0"/>
                <a:cs typeface="Times New Roman" panose="02020603050405020304" pitchFamily="18" charset="0"/>
              </a:rPr>
              <a:t>3. Global Regulatory Intelligence:</a:t>
            </a:r>
            <a:r>
              <a:rPr lang="en-IN" dirty="0">
                <a:latin typeface="Times New Roman" panose="02020603050405020304" pitchFamily="18" charset="0"/>
                <a:cs typeface="Times New Roman" panose="02020603050405020304" pitchFamily="18" charset="0"/>
              </a:rPr>
              <a:t> Instantly compares additive safety across global standards, flagging chemicals legal in the US (FDA) but restricted or banned in Europe (EFSA) or India (FSSAI).</a:t>
            </a:r>
          </a:p>
          <a:p>
            <a:r>
              <a:rPr lang="en-IN" b="1" dirty="0">
                <a:latin typeface="Times New Roman" panose="02020603050405020304" pitchFamily="18" charset="0"/>
                <a:cs typeface="Times New Roman" panose="02020603050405020304" pitchFamily="18" charset="0"/>
              </a:rPr>
              <a:t>4. Personalized Toxicology &amp; ADI:</a:t>
            </a:r>
            <a:r>
              <a:rPr lang="en-IN" dirty="0">
                <a:latin typeface="Times New Roman" panose="02020603050405020304" pitchFamily="18" charset="0"/>
                <a:cs typeface="Times New Roman" panose="02020603050405020304" pitchFamily="18" charset="0"/>
              </a:rPr>
              <a:t> Calculates exact safe weekly intake limits based on the user's specific age and body weight using WHO/JECFA thresholds.</a:t>
            </a:r>
          </a:p>
          <a:p>
            <a:r>
              <a:rPr lang="en-IN" b="1" dirty="0">
                <a:latin typeface="Times New Roman" panose="02020603050405020304" pitchFamily="18" charset="0"/>
                <a:cs typeface="Times New Roman" panose="02020603050405020304" pitchFamily="18" charset="0"/>
              </a:rPr>
              <a:t>5. Biochemical Pairing Alerts:</a:t>
            </a:r>
            <a:r>
              <a:rPr lang="en-IN" dirty="0">
                <a:latin typeface="Times New Roman" panose="02020603050405020304" pitchFamily="18" charset="0"/>
                <a:cs typeface="Times New Roman" panose="02020603050405020304" pitchFamily="18" charset="0"/>
              </a:rPr>
              <a:t> Detects bad food combinations (like acidic sodas with heavy proteins) that cause rapid protein curdling and severe digestive distress.</a:t>
            </a:r>
          </a:p>
          <a:p>
            <a:r>
              <a:rPr lang="en-IN" b="1" dirty="0">
                <a:latin typeface="Times New Roman" panose="02020603050405020304" pitchFamily="18" charset="0"/>
                <a:cs typeface="Times New Roman" panose="02020603050405020304" pitchFamily="18" charset="0"/>
              </a:rPr>
              <a:t>6. Monthly Chemical Tracker:</a:t>
            </a:r>
            <a:r>
              <a:rPr lang="en-IN" dirty="0">
                <a:latin typeface="Times New Roman" panose="02020603050405020304" pitchFamily="18" charset="0"/>
                <a:cs typeface="Times New Roman" panose="02020603050405020304" pitchFamily="18" charset="0"/>
              </a:rPr>
              <a:t> Logs user consumption over time, tracking cumulative additive exposure and giving smart warnings before habits become health risks.</a:t>
            </a:r>
          </a:p>
        </p:txBody>
      </p:sp>
      <p:pic>
        <p:nvPicPr>
          <p:cNvPr id="6" name="Picture 5" descr="The image shows a person holding a smartphone, displaying the nutrition facts for a package of a food item, such as a snack or cereal, with various nutritional values listed.&#10;&#10;AI-generated content may be incorrect.">
            <a:extLst>
              <a:ext uri="{FF2B5EF4-FFF2-40B4-BE49-F238E27FC236}">
                <a16:creationId xmlns:a16="http://schemas.microsoft.com/office/drawing/2014/main" id="{83439E7B-8C30-5E22-B7AF-D0B896086FCD}"/>
              </a:ext>
            </a:extLst>
          </p:cNvPr>
          <p:cNvPicPr>
            <a:picLocks noChangeAspect="1"/>
          </p:cNvPicPr>
          <p:nvPr/>
        </p:nvPicPr>
        <p:blipFill>
          <a:blip r:embed="rId4"/>
          <a:stretch>
            <a:fillRect/>
          </a:stretch>
        </p:blipFill>
        <p:spPr>
          <a:xfrm>
            <a:off x="7931217" y="1760547"/>
            <a:ext cx="4103047" cy="4572875"/>
          </a:xfrm>
          <a:prstGeom prst="rect">
            <a:avLst/>
          </a:prstGeom>
        </p:spPr>
      </p:pic>
    </p:spTree>
    <p:extLst>
      <p:ext uri="{BB962C8B-B14F-4D97-AF65-F5344CB8AC3E}">
        <p14:creationId xmlns:p14="http://schemas.microsoft.com/office/powerpoint/2010/main" val="2465927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18C71-17AD-0293-9063-96ECF6F51B24}"/>
            </a:ext>
          </a:extLst>
        </p:cNvPr>
        <p:cNvGrpSpPr/>
        <p:nvPr/>
      </p:nvGrpSpPr>
      <p:grpSpPr>
        <a:xfrm>
          <a:off x="0" y="0"/>
          <a:ext cx="0" cy="0"/>
          <a:chOff x="0" y="0"/>
          <a:chExt cx="0" cy="0"/>
        </a:xfrm>
      </p:grpSpPr>
      <p:pic>
        <p:nvPicPr>
          <p:cNvPr id="4" name="object 4">
            <a:extLst>
              <a:ext uri="{FF2B5EF4-FFF2-40B4-BE49-F238E27FC236}">
                <a16:creationId xmlns:a16="http://schemas.microsoft.com/office/drawing/2014/main" id="{34F3F486-03FC-FF76-400E-D1B75F7119EB}"/>
              </a:ext>
            </a:extLst>
          </p:cNvPr>
          <p:cNvPicPr/>
          <p:nvPr/>
        </p:nvPicPr>
        <p:blipFill>
          <a:blip r:embed="rId3" cstate="print"/>
          <a:stretch>
            <a:fillRect/>
          </a:stretch>
        </p:blipFill>
        <p:spPr>
          <a:xfrm>
            <a:off x="357352" y="191643"/>
            <a:ext cx="1103582" cy="1342897"/>
          </a:xfrm>
          <a:prstGeom prst="rect">
            <a:avLst/>
          </a:prstGeom>
        </p:spPr>
      </p:pic>
      <p:pic>
        <p:nvPicPr>
          <p:cNvPr id="5" name="object 5">
            <a:extLst>
              <a:ext uri="{FF2B5EF4-FFF2-40B4-BE49-F238E27FC236}">
                <a16:creationId xmlns:a16="http://schemas.microsoft.com/office/drawing/2014/main" id="{8C875759-AEC6-3712-4A08-1B2E514FCBA0}"/>
              </a:ext>
            </a:extLst>
          </p:cNvPr>
          <p:cNvPicPr/>
          <p:nvPr/>
        </p:nvPicPr>
        <p:blipFill>
          <a:blip r:embed="rId4" cstate="print"/>
          <a:stretch>
            <a:fillRect/>
          </a:stretch>
        </p:blipFill>
        <p:spPr>
          <a:xfrm>
            <a:off x="10514203" y="191643"/>
            <a:ext cx="1520062" cy="1342897"/>
          </a:xfrm>
          <a:prstGeom prst="rect">
            <a:avLst/>
          </a:prstGeom>
        </p:spPr>
      </p:pic>
      <p:sp>
        <p:nvSpPr>
          <p:cNvPr id="10" name="AutoShape 4" descr="Image of ">
            <a:extLst>
              <a:ext uri="{FF2B5EF4-FFF2-40B4-BE49-F238E27FC236}">
                <a16:creationId xmlns:a16="http://schemas.microsoft.com/office/drawing/2014/main" id="{FE95E641-CBFD-5F4C-E55B-D6CB75CEE1E3}"/>
              </a:ext>
            </a:extLst>
          </p:cNvPr>
          <p:cNvSpPr>
            <a:spLocks noChangeAspect="1" noChangeArrowheads="1"/>
          </p:cNvSpPr>
          <p:nvPr/>
        </p:nvSpPr>
        <p:spPr bwMode="auto">
          <a:xfrm>
            <a:off x="2641600" y="2971800"/>
            <a:ext cx="1239520" cy="123952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3C780770-556C-8987-AAC1-638A97345E10}"/>
              </a:ext>
            </a:extLst>
          </p:cNvPr>
          <p:cNvSpPr txBox="1"/>
          <p:nvPr/>
        </p:nvSpPr>
        <p:spPr>
          <a:xfrm>
            <a:off x="0" y="515389"/>
            <a:ext cx="12192000"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OBJECTIVES</a:t>
            </a:r>
          </a:p>
        </p:txBody>
      </p:sp>
      <p:sp>
        <p:nvSpPr>
          <p:cNvPr id="8" name="Rectangle 4">
            <a:extLst>
              <a:ext uri="{FF2B5EF4-FFF2-40B4-BE49-F238E27FC236}">
                <a16:creationId xmlns:a16="http://schemas.microsoft.com/office/drawing/2014/main" id="{BE0EDC05-E64D-B187-F795-B69C5DDBCECB}"/>
              </a:ext>
            </a:extLst>
          </p:cNvPr>
          <p:cNvSpPr>
            <a:spLocks noChangeArrowheads="1"/>
          </p:cNvSpPr>
          <p:nvPr/>
        </p:nvSpPr>
        <p:spPr bwMode="auto">
          <a:xfrm>
            <a:off x="357351" y="1773926"/>
            <a:ext cx="722570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b="1" dirty="0">
                <a:latin typeface="Times New Roman" panose="02020603050405020304" pitchFamily="18" charset="0"/>
                <a:cs typeface="Times New Roman" panose="02020603050405020304" pitchFamily="18" charset="0"/>
              </a:rPr>
              <a:t>1. Automated Ingredient Extraction</a:t>
            </a:r>
          </a:p>
          <a:p>
            <a:r>
              <a:rPr lang="en-IN" dirty="0">
                <a:latin typeface="Times New Roman" panose="02020603050405020304" pitchFamily="18" charset="0"/>
                <a:cs typeface="Times New Roman" panose="02020603050405020304" pitchFamily="18" charset="0"/>
              </a:rPr>
              <a:t>Ingest unstructured text from scanned packaging images and used</a:t>
            </a:r>
          </a:p>
          <a:p>
            <a:r>
              <a:rPr lang="en-IN" dirty="0">
                <a:latin typeface="Times New Roman" panose="02020603050405020304" pitchFamily="18" charset="0"/>
                <a:cs typeface="Times New Roman" panose="02020603050405020304" pitchFamily="18" charset="0"/>
              </a:rPr>
              <a:t>to clean, normalize, and extract chemical additives, E-numbers, and nutritional values into a structured format.</a:t>
            </a:r>
          </a:p>
          <a:p>
            <a:r>
              <a:rPr lang="en-IN" b="1" dirty="0">
                <a:latin typeface="Times New Roman" panose="02020603050405020304" pitchFamily="18" charset="0"/>
                <a:cs typeface="Times New Roman" panose="02020603050405020304" pitchFamily="18" charset="0"/>
              </a:rPr>
              <a:t>2. Multi-Jurisdictional Regulatory Data Mapping</a:t>
            </a:r>
          </a:p>
          <a:p>
            <a:r>
              <a:rPr lang="en-IN" dirty="0">
                <a:latin typeface="Times New Roman" panose="02020603050405020304" pitchFamily="18" charset="0"/>
                <a:cs typeface="Times New Roman" panose="02020603050405020304" pitchFamily="18" charset="0"/>
              </a:rPr>
              <a:t>Construct an integrated cross-border data pipeline that maps extracted additives against </a:t>
            </a:r>
            <a:r>
              <a:rPr lang="en-IN" b="1" dirty="0">
                <a:latin typeface="Times New Roman" panose="02020603050405020304" pitchFamily="18" charset="0"/>
                <a:cs typeface="Times New Roman" panose="02020603050405020304" pitchFamily="18" charset="0"/>
              </a:rPr>
              <a:t>FDA</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EFSA</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FSSAI</a:t>
            </a:r>
            <a:r>
              <a:rPr lang="en-IN" dirty="0">
                <a:latin typeface="Times New Roman" panose="02020603050405020304" pitchFamily="18" charset="0"/>
                <a:cs typeface="Times New Roman" panose="02020603050405020304" pitchFamily="18" charset="0"/>
              </a:rPr>
              <a:t> safety datasets to highlight regional usage limits, safety variances, and country-specific bans.</a:t>
            </a:r>
          </a:p>
          <a:p>
            <a:r>
              <a:rPr lang="en-IN" b="1" dirty="0">
                <a:latin typeface="Times New Roman" panose="02020603050405020304" pitchFamily="18" charset="0"/>
                <a:cs typeface="Times New Roman" panose="02020603050405020304" pitchFamily="18" charset="0"/>
              </a:rPr>
              <a:t>3. Statistical Risk </a:t>
            </a:r>
            <a:r>
              <a:rPr lang="en-IN" b="1" dirty="0" err="1">
                <a:latin typeface="Times New Roman" panose="02020603050405020304" pitchFamily="18" charset="0"/>
                <a:cs typeface="Times New Roman" panose="02020603050405020304" pitchFamily="18" charset="0"/>
              </a:rPr>
              <a:t>Modeling</a:t>
            </a:r>
            <a:r>
              <a:rPr lang="en-IN" b="1" dirty="0">
                <a:latin typeface="Times New Roman" panose="02020603050405020304" pitchFamily="18" charset="0"/>
                <a:cs typeface="Times New Roman" panose="02020603050405020304" pitchFamily="18" charset="0"/>
              </a:rPr>
              <a:t> &amp; ADI Calculations</a:t>
            </a:r>
          </a:p>
          <a:p>
            <a:r>
              <a:rPr lang="en-IN" dirty="0">
                <a:latin typeface="Times New Roman" panose="02020603050405020304" pitchFamily="18" charset="0"/>
                <a:cs typeface="Times New Roman" panose="02020603050405020304" pitchFamily="18" charset="0"/>
              </a:rPr>
              <a:t>Design a mathematical scoring framework (</a:t>
            </a:r>
            <a:r>
              <a:rPr lang="en-IN" b="1" dirty="0">
                <a:latin typeface="Times New Roman" panose="02020603050405020304" pitchFamily="18" charset="0"/>
                <a:cs typeface="Times New Roman" panose="02020603050405020304" pitchFamily="18" charset="0"/>
              </a:rPr>
              <a:t>Additive Risk Index</a:t>
            </a:r>
            <a:r>
              <a:rPr lang="en-IN" dirty="0">
                <a:latin typeface="Times New Roman" panose="02020603050405020304" pitchFamily="18" charset="0"/>
                <a:cs typeface="Times New Roman" panose="02020603050405020304" pitchFamily="18" charset="0"/>
              </a:rPr>
              <a:t>) and an </a:t>
            </a:r>
            <a:r>
              <a:rPr lang="en-IN" b="1" dirty="0">
                <a:latin typeface="Times New Roman" panose="02020603050405020304" pitchFamily="18" charset="0"/>
                <a:cs typeface="Times New Roman" panose="02020603050405020304" pitchFamily="18" charset="0"/>
              </a:rPr>
              <a:t>Acceptable Daily Intake (ADI)</a:t>
            </a:r>
            <a:r>
              <a:rPr lang="en-IN" dirty="0">
                <a:latin typeface="Times New Roman" panose="02020603050405020304" pitchFamily="18" charset="0"/>
                <a:cs typeface="Times New Roman" panose="02020603050405020304" pitchFamily="18" charset="0"/>
              </a:rPr>
              <a:t>  to statistically quantify safe consumption frequencies based on user body weight and age constraints.</a:t>
            </a:r>
          </a:p>
          <a:p>
            <a:r>
              <a:rPr lang="en-IN" b="1" dirty="0">
                <a:latin typeface="Times New Roman" panose="02020603050405020304" pitchFamily="18" charset="0"/>
                <a:cs typeface="Times New Roman" panose="02020603050405020304" pitchFamily="18" charset="0"/>
              </a:rPr>
              <a:t>4. Biochemical Data Matching &amp; Interaction Alerts</a:t>
            </a:r>
          </a:p>
          <a:p>
            <a:r>
              <a:rPr lang="en-IN" dirty="0">
                <a:latin typeface="Times New Roman" panose="02020603050405020304" pitchFamily="18" charset="0"/>
                <a:cs typeface="Times New Roman" panose="02020603050405020304" pitchFamily="18" charset="0"/>
              </a:rPr>
              <a:t>Develop a rule-based data lookup engine that cross-references food pH levels and compound profiles to detect incompatible food pairings (like acidic drinks paired with dense proteins) and flag digestive reaction risks.</a:t>
            </a:r>
          </a:p>
        </p:txBody>
      </p:sp>
      <p:pic>
        <p:nvPicPr>
          <p:cNvPr id="3" name="Picture 2" descr="The image depicts a professional wearing a business suit, holding a smartphone, and standing in a supermarket aisle filled with diverse food products, highlighting the concept of NUTRITRACE, which focuses on objectives like vision, global standards, automated ingredient extraction, personalization, meal science, and risk assessment for food safety.&#10;&#10;AI-generated content may be incorrect.">
            <a:extLst>
              <a:ext uri="{FF2B5EF4-FFF2-40B4-BE49-F238E27FC236}">
                <a16:creationId xmlns:a16="http://schemas.microsoft.com/office/drawing/2014/main" id="{573C8EC3-C736-8F1E-DC52-9A64CDBC8A80}"/>
              </a:ext>
            </a:extLst>
          </p:cNvPr>
          <p:cNvPicPr>
            <a:picLocks noChangeAspect="1"/>
          </p:cNvPicPr>
          <p:nvPr/>
        </p:nvPicPr>
        <p:blipFill>
          <a:blip r:embed="rId5"/>
          <a:stretch>
            <a:fillRect/>
          </a:stretch>
        </p:blipFill>
        <p:spPr>
          <a:xfrm>
            <a:off x="7666181" y="1858286"/>
            <a:ext cx="3970793" cy="4259446"/>
          </a:xfrm>
          <a:prstGeom prst="rect">
            <a:avLst/>
          </a:prstGeom>
        </p:spPr>
      </p:pic>
    </p:spTree>
    <p:extLst>
      <p:ext uri="{BB962C8B-B14F-4D97-AF65-F5344CB8AC3E}">
        <p14:creationId xmlns:p14="http://schemas.microsoft.com/office/powerpoint/2010/main" val="785390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9A1F6-9636-94BA-378A-35A0DBCD76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E01EAAB-4143-B927-86E6-4A9D1826CC56}"/>
              </a:ext>
            </a:extLst>
          </p:cNvPr>
          <p:cNvSpPr txBox="1"/>
          <p:nvPr/>
        </p:nvSpPr>
        <p:spPr>
          <a:xfrm>
            <a:off x="1" y="615007"/>
            <a:ext cx="12191999"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LITERATURE SURVEY </a:t>
            </a:r>
          </a:p>
        </p:txBody>
      </p:sp>
      <p:pic>
        <p:nvPicPr>
          <p:cNvPr id="4" name="object 4">
            <a:extLst>
              <a:ext uri="{FF2B5EF4-FFF2-40B4-BE49-F238E27FC236}">
                <a16:creationId xmlns:a16="http://schemas.microsoft.com/office/drawing/2014/main" id="{A23FA88E-B5D1-FFA8-EFA4-FEC14A444A6C}"/>
              </a:ext>
            </a:extLst>
          </p:cNvPr>
          <p:cNvPicPr/>
          <p:nvPr/>
        </p:nvPicPr>
        <p:blipFill>
          <a:blip r:embed="rId3" cstate="print"/>
          <a:stretch>
            <a:fillRect/>
          </a:stretch>
        </p:blipFill>
        <p:spPr>
          <a:xfrm>
            <a:off x="749629" y="210948"/>
            <a:ext cx="1103582" cy="1342897"/>
          </a:xfrm>
          <a:prstGeom prst="rect">
            <a:avLst/>
          </a:prstGeom>
        </p:spPr>
      </p:pic>
      <p:pic>
        <p:nvPicPr>
          <p:cNvPr id="5" name="object 5">
            <a:extLst>
              <a:ext uri="{FF2B5EF4-FFF2-40B4-BE49-F238E27FC236}">
                <a16:creationId xmlns:a16="http://schemas.microsoft.com/office/drawing/2014/main" id="{9607519D-C4FC-7304-0CE8-EABE851C7065}"/>
              </a:ext>
            </a:extLst>
          </p:cNvPr>
          <p:cNvPicPr/>
          <p:nvPr/>
        </p:nvPicPr>
        <p:blipFill>
          <a:blip r:embed="rId4" cstate="print"/>
          <a:stretch>
            <a:fillRect/>
          </a:stretch>
        </p:blipFill>
        <p:spPr>
          <a:xfrm>
            <a:off x="10152492" y="266723"/>
            <a:ext cx="1520062" cy="1342897"/>
          </a:xfrm>
          <a:prstGeom prst="rect">
            <a:avLst/>
          </a:prstGeom>
        </p:spPr>
      </p:pic>
      <p:graphicFrame>
        <p:nvGraphicFramePr>
          <p:cNvPr id="6" name="Table 5">
            <a:extLst>
              <a:ext uri="{FF2B5EF4-FFF2-40B4-BE49-F238E27FC236}">
                <a16:creationId xmlns:a16="http://schemas.microsoft.com/office/drawing/2014/main" id="{BDC6A09F-9EAA-FE2D-2B59-4E3B9A294CF0}"/>
              </a:ext>
            </a:extLst>
          </p:cNvPr>
          <p:cNvGraphicFramePr>
            <a:graphicFrameLocks noGrp="1"/>
          </p:cNvGraphicFramePr>
          <p:nvPr>
            <p:extLst>
              <p:ext uri="{D42A27DB-BD31-4B8C-83A1-F6EECF244321}">
                <p14:modId xmlns:p14="http://schemas.microsoft.com/office/powerpoint/2010/main" val="86979271"/>
              </p:ext>
            </p:extLst>
          </p:nvPr>
        </p:nvGraphicFramePr>
        <p:xfrm>
          <a:off x="951345" y="2013680"/>
          <a:ext cx="10084977" cy="4331701"/>
        </p:xfrm>
        <a:graphic>
          <a:graphicData uri="http://schemas.openxmlformats.org/drawingml/2006/table">
            <a:tbl>
              <a:tblPr>
                <a:tableStyleId>{5940675A-B579-460E-94D1-54222C63F5DA}</a:tableStyleId>
              </a:tblPr>
              <a:tblGrid>
                <a:gridCol w="557213">
                  <a:extLst>
                    <a:ext uri="{9D8B030D-6E8A-4147-A177-3AD203B41FA5}">
                      <a16:colId xmlns:a16="http://schemas.microsoft.com/office/drawing/2014/main" val="3308845341"/>
                    </a:ext>
                  </a:extLst>
                </a:gridCol>
                <a:gridCol w="2534856">
                  <a:extLst>
                    <a:ext uri="{9D8B030D-6E8A-4147-A177-3AD203B41FA5}">
                      <a16:colId xmlns:a16="http://schemas.microsoft.com/office/drawing/2014/main" val="1591102623"/>
                    </a:ext>
                  </a:extLst>
                </a:gridCol>
                <a:gridCol w="2172999">
                  <a:extLst>
                    <a:ext uri="{9D8B030D-6E8A-4147-A177-3AD203B41FA5}">
                      <a16:colId xmlns:a16="http://schemas.microsoft.com/office/drawing/2014/main" val="2944023696"/>
                    </a:ext>
                  </a:extLst>
                </a:gridCol>
                <a:gridCol w="812521">
                  <a:extLst>
                    <a:ext uri="{9D8B030D-6E8A-4147-A177-3AD203B41FA5}">
                      <a16:colId xmlns:a16="http://schemas.microsoft.com/office/drawing/2014/main" val="161964537"/>
                    </a:ext>
                  </a:extLst>
                </a:gridCol>
                <a:gridCol w="1688151">
                  <a:extLst>
                    <a:ext uri="{9D8B030D-6E8A-4147-A177-3AD203B41FA5}">
                      <a16:colId xmlns:a16="http://schemas.microsoft.com/office/drawing/2014/main" val="2188369101"/>
                    </a:ext>
                  </a:extLst>
                </a:gridCol>
                <a:gridCol w="2319237">
                  <a:extLst>
                    <a:ext uri="{9D8B030D-6E8A-4147-A177-3AD203B41FA5}">
                      <a16:colId xmlns:a16="http://schemas.microsoft.com/office/drawing/2014/main" val="3314109689"/>
                    </a:ext>
                  </a:extLst>
                </a:gridCol>
              </a:tblGrid>
              <a:tr h="329933">
                <a:tc>
                  <a:txBody>
                    <a:bodyPr/>
                    <a:lstStyle/>
                    <a:p>
                      <a:pPr marL="0" marR="0" algn="ctr" rtl="0">
                        <a:spcAft>
                          <a:spcPts val="2400"/>
                        </a:spcAft>
                        <a:buNone/>
                      </a:pPr>
                      <a:r>
                        <a:rPr lang="en-IN" sz="1400" b="1" dirty="0" err="1">
                          <a:solidFill>
                            <a:srgbClr val="1F1F1F"/>
                          </a:solidFill>
                          <a:effectLst/>
                          <a:latin typeface="Times New Roman" panose="02020603050405020304" pitchFamily="18" charset="0"/>
                          <a:cs typeface="Times New Roman" panose="02020603050405020304" pitchFamily="18" charset="0"/>
                        </a:rPr>
                        <a:t>S.No</a:t>
                      </a:r>
                      <a:endParaRPr lang="en-IN" sz="1400" dirty="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tc>
                <a:tc>
                  <a:txBody>
                    <a:bodyPr/>
                    <a:lstStyle/>
                    <a:p>
                      <a:pPr marL="0" marR="0" algn="ctr" rtl="0">
                        <a:spcAft>
                          <a:spcPts val="2400"/>
                        </a:spcAft>
                        <a:buNone/>
                      </a:pPr>
                      <a:r>
                        <a:rPr lang="en-IN" sz="1400" b="1" dirty="0">
                          <a:solidFill>
                            <a:srgbClr val="1F1F1F"/>
                          </a:solidFill>
                          <a:effectLst/>
                          <a:latin typeface="Times New Roman" panose="02020603050405020304" pitchFamily="18" charset="0"/>
                          <a:cs typeface="Times New Roman" panose="02020603050405020304" pitchFamily="18" charset="0"/>
                        </a:rPr>
                        <a:t>Title</a:t>
                      </a:r>
                      <a:endParaRPr lang="en-IN" sz="1400" dirty="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tc>
                <a:tc>
                  <a:txBody>
                    <a:bodyPr/>
                    <a:lstStyle/>
                    <a:p>
                      <a:pPr marL="0" marR="0" algn="ctr" rtl="0">
                        <a:spcAft>
                          <a:spcPts val="2400"/>
                        </a:spcAft>
                        <a:buNone/>
                      </a:pPr>
                      <a:r>
                        <a:rPr lang="en-IN" sz="1400" b="1" dirty="0">
                          <a:solidFill>
                            <a:srgbClr val="1F1F1F"/>
                          </a:solidFill>
                          <a:effectLst/>
                          <a:latin typeface="Times New Roman" panose="02020603050405020304" pitchFamily="18" charset="0"/>
                          <a:cs typeface="Times New Roman" panose="02020603050405020304" pitchFamily="18" charset="0"/>
                        </a:rPr>
                        <a:t>Authors</a:t>
                      </a:r>
                      <a:endParaRPr lang="en-IN" sz="1400" dirty="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tc>
                <a:tc>
                  <a:txBody>
                    <a:bodyPr/>
                    <a:lstStyle/>
                    <a:p>
                      <a:pPr marL="0" marR="0" algn="ctr" rtl="0">
                        <a:spcAft>
                          <a:spcPts val="2400"/>
                        </a:spcAft>
                        <a:buNone/>
                      </a:pPr>
                      <a:r>
                        <a:rPr lang="en-IN" sz="1400" b="1" dirty="0">
                          <a:solidFill>
                            <a:srgbClr val="1F1F1F"/>
                          </a:solidFill>
                          <a:effectLst/>
                          <a:latin typeface="Times New Roman" panose="02020603050405020304" pitchFamily="18" charset="0"/>
                          <a:cs typeface="Times New Roman" panose="02020603050405020304" pitchFamily="18" charset="0"/>
                        </a:rPr>
                        <a:t>Year</a:t>
                      </a:r>
                      <a:endParaRPr lang="en-IN" sz="1400" dirty="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tc>
                <a:tc>
                  <a:txBody>
                    <a:bodyPr/>
                    <a:lstStyle/>
                    <a:p>
                      <a:pPr marL="0" marR="0" algn="ctr" rtl="0">
                        <a:spcAft>
                          <a:spcPts val="2400"/>
                        </a:spcAft>
                        <a:buNone/>
                      </a:pPr>
                      <a:r>
                        <a:rPr lang="en-IN" sz="1400" b="1" dirty="0">
                          <a:solidFill>
                            <a:srgbClr val="1F1F1F"/>
                          </a:solidFill>
                          <a:effectLst/>
                          <a:latin typeface="Times New Roman" panose="02020603050405020304" pitchFamily="18" charset="0"/>
                          <a:cs typeface="Times New Roman" panose="02020603050405020304" pitchFamily="18" charset="0"/>
                        </a:rPr>
                        <a:t>Techniques Used</a:t>
                      </a:r>
                      <a:endParaRPr lang="en-IN" sz="1400" dirty="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tc>
                <a:tc>
                  <a:txBody>
                    <a:bodyPr/>
                    <a:lstStyle/>
                    <a:p>
                      <a:pPr marL="0" marR="0" algn="ctr" rtl="0">
                        <a:spcAft>
                          <a:spcPts val="2400"/>
                        </a:spcAft>
                        <a:buNone/>
                      </a:pPr>
                      <a:r>
                        <a:rPr lang="en-IN" sz="1400" b="1" dirty="0">
                          <a:solidFill>
                            <a:srgbClr val="1F1F1F"/>
                          </a:solidFill>
                          <a:effectLst/>
                          <a:latin typeface="Times New Roman" panose="02020603050405020304" pitchFamily="18" charset="0"/>
                          <a:cs typeface="Times New Roman" panose="02020603050405020304" pitchFamily="18" charset="0"/>
                        </a:rPr>
                        <a:t>Problem Addressed</a:t>
                      </a:r>
                      <a:endParaRPr lang="en-IN" sz="1400" dirty="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tc>
                <a:extLst>
                  <a:ext uri="{0D108BD9-81ED-4DB2-BD59-A6C34878D82A}">
                    <a16:rowId xmlns:a16="http://schemas.microsoft.com/office/drawing/2014/main" val="1536435616"/>
                  </a:ext>
                </a:extLst>
              </a:tr>
              <a:tr h="1000442">
                <a:tc>
                  <a:txBody>
                    <a:bodyPr/>
                    <a:lstStyle/>
                    <a:p>
                      <a:pPr marL="0" marR="0" algn="ctr" rtl="0">
                        <a:spcAft>
                          <a:spcPts val="2400"/>
                        </a:spcAft>
                        <a:buNone/>
                      </a:pPr>
                      <a:r>
                        <a:rPr lang="en-IN" sz="1400" b="1" dirty="0">
                          <a:solidFill>
                            <a:srgbClr val="1F1F1F"/>
                          </a:solidFill>
                          <a:effectLst/>
                          <a:latin typeface="Times New Roman" panose="02020603050405020304" pitchFamily="18" charset="0"/>
                          <a:cs typeface="Times New Roman" panose="02020603050405020304" pitchFamily="18" charset="0"/>
                        </a:rPr>
                        <a:t>1</a:t>
                      </a:r>
                      <a:endParaRPr lang="en-IN" sz="1400" dirty="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tc>
                <a:tc>
                  <a:txBody>
                    <a:bodyPr/>
                    <a:lstStyle/>
                    <a:p>
                      <a:pPr marL="0" marR="0" algn="ctr" rtl="0">
                        <a:spcAft>
                          <a:spcPts val="2400"/>
                        </a:spcAft>
                        <a:buNone/>
                      </a:pPr>
                      <a:r>
                        <a:rPr lang="en-IN" sz="1400" dirty="0">
                          <a:solidFill>
                            <a:srgbClr val="1F1F1F"/>
                          </a:solidFill>
                          <a:effectLst/>
                          <a:latin typeface="Times New Roman" panose="02020603050405020304" pitchFamily="18" charset="0"/>
                          <a:cs typeface="Times New Roman" panose="02020603050405020304" pitchFamily="18" charset="0"/>
                        </a:rPr>
                        <a:t>Automated Extraction and Entity Recognition of Food Ingredients from Packaging Images</a:t>
                      </a:r>
                    </a:p>
                  </a:txBody>
                  <a:tcPr marL="76200" marR="76200" marT="50800" marB="50800" anchor="ctr"/>
                </a:tc>
                <a:tc>
                  <a:txBody>
                    <a:bodyPr/>
                    <a:lstStyle/>
                    <a:p>
                      <a:pPr marL="0" marR="0" algn="ctr" rtl="0">
                        <a:spcAft>
                          <a:spcPts val="2400"/>
                        </a:spcAft>
                        <a:buNone/>
                      </a:pPr>
                      <a:r>
                        <a:rPr lang="en-IN" sz="1400" dirty="0">
                          <a:solidFill>
                            <a:srgbClr val="1F1F1F"/>
                          </a:solidFill>
                          <a:effectLst/>
                          <a:latin typeface="Times New Roman" panose="02020603050405020304" pitchFamily="18" charset="0"/>
                          <a:cs typeface="Times New Roman" panose="02020603050405020304" pitchFamily="18" charset="0"/>
                        </a:rPr>
                        <a:t>S. Guru, P. Chaurasia et al.</a:t>
                      </a:r>
                    </a:p>
                  </a:txBody>
                  <a:tcPr marL="76200" marR="76200" marT="50800" marB="50800" anchor="ctr"/>
                </a:tc>
                <a:tc>
                  <a:txBody>
                    <a:bodyPr/>
                    <a:lstStyle/>
                    <a:p>
                      <a:pPr marL="0" marR="0" algn="ctr" rtl="0">
                        <a:spcAft>
                          <a:spcPts val="2400"/>
                        </a:spcAft>
                        <a:buNone/>
                      </a:pPr>
                      <a:r>
                        <a:rPr lang="en-IN" sz="1400">
                          <a:solidFill>
                            <a:srgbClr val="1F1F1F"/>
                          </a:solidFill>
                          <a:effectLst/>
                          <a:latin typeface="Times New Roman" panose="02020603050405020304" pitchFamily="18" charset="0"/>
                          <a:cs typeface="Times New Roman" panose="02020603050405020304" pitchFamily="18" charset="0"/>
                        </a:rPr>
                        <a:t>2025</a:t>
                      </a:r>
                    </a:p>
                  </a:txBody>
                  <a:tcPr marL="76200" marR="76200" marT="50800" marB="50800" anchor="ctr"/>
                </a:tc>
                <a:tc>
                  <a:txBody>
                    <a:bodyPr/>
                    <a:lstStyle/>
                    <a:p>
                      <a:pPr marL="0" marR="0" algn="ctr" rtl="0">
                        <a:spcAft>
                          <a:spcPts val="2400"/>
                        </a:spcAft>
                        <a:buNone/>
                      </a:pPr>
                      <a:r>
                        <a:rPr lang="en-IN" sz="1400">
                          <a:solidFill>
                            <a:srgbClr val="1F1F1F"/>
                          </a:solidFill>
                          <a:effectLst/>
                          <a:latin typeface="Times New Roman" panose="02020603050405020304" pitchFamily="18" charset="0"/>
                          <a:cs typeface="Times New Roman" panose="02020603050405020304" pitchFamily="18" charset="0"/>
                        </a:rPr>
                        <a:t>OCR, Named Entity Recognition (NER), Text Normalization</a:t>
                      </a:r>
                    </a:p>
                  </a:txBody>
                  <a:tcPr marL="76200" marR="76200" marT="50800" marB="50800" anchor="ctr"/>
                </a:tc>
                <a:tc>
                  <a:txBody>
                    <a:bodyPr/>
                    <a:lstStyle/>
                    <a:p>
                      <a:pPr marL="0" marR="0" algn="ctr" rtl="0">
                        <a:spcAft>
                          <a:spcPts val="2400"/>
                        </a:spcAft>
                        <a:buNone/>
                      </a:pPr>
                      <a:r>
                        <a:rPr lang="en-IN" sz="1400">
                          <a:solidFill>
                            <a:srgbClr val="1F1F1F"/>
                          </a:solidFill>
                          <a:effectLst/>
                          <a:latin typeface="Times New Roman" panose="02020603050405020304" pitchFamily="18" charset="0"/>
                          <a:cs typeface="Times New Roman" panose="02020603050405020304" pitchFamily="18" charset="0"/>
                        </a:rPr>
                        <a:t>Inability to parse unstructured, noisy ingredient lists and map obscure E-numbers.</a:t>
                      </a:r>
                    </a:p>
                  </a:txBody>
                  <a:tcPr marL="76200" marR="76200" marT="50800" marB="50800" anchor="ctr"/>
                </a:tc>
                <a:extLst>
                  <a:ext uri="{0D108BD9-81ED-4DB2-BD59-A6C34878D82A}">
                    <a16:rowId xmlns:a16="http://schemas.microsoft.com/office/drawing/2014/main" val="3712242194"/>
                  </a:ext>
                </a:extLst>
              </a:tr>
              <a:tr h="1000442">
                <a:tc>
                  <a:txBody>
                    <a:bodyPr/>
                    <a:lstStyle/>
                    <a:p>
                      <a:pPr marL="0" marR="0" algn="ctr" rtl="0">
                        <a:spcAft>
                          <a:spcPts val="2400"/>
                        </a:spcAft>
                        <a:buNone/>
                      </a:pPr>
                      <a:r>
                        <a:rPr lang="en-IN" sz="1400" b="1" dirty="0">
                          <a:solidFill>
                            <a:srgbClr val="1F1F1F"/>
                          </a:solidFill>
                          <a:effectLst/>
                          <a:latin typeface="Times New Roman" panose="02020603050405020304" pitchFamily="18" charset="0"/>
                          <a:cs typeface="Times New Roman" panose="02020603050405020304" pitchFamily="18" charset="0"/>
                        </a:rPr>
                        <a:t>2</a:t>
                      </a:r>
                      <a:endParaRPr lang="en-IN" sz="1400" dirty="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tc>
                <a:tc>
                  <a:txBody>
                    <a:bodyPr/>
                    <a:lstStyle/>
                    <a:p>
                      <a:pPr marL="0" marR="0" algn="ctr" rtl="0">
                        <a:spcAft>
                          <a:spcPts val="2400"/>
                        </a:spcAft>
                        <a:buNone/>
                      </a:pPr>
                      <a:r>
                        <a:rPr lang="en-IN" sz="1400">
                          <a:solidFill>
                            <a:srgbClr val="1F1F1F"/>
                          </a:solidFill>
                          <a:effectLst/>
                          <a:latin typeface="Times New Roman" panose="02020603050405020304" pitchFamily="18" charset="0"/>
                          <a:cs typeface="Times New Roman" panose="02020603050405020304" pitchFamily="18" charset="0"/>
                        </a:rPr>
                        <a:t>Cross-Border Harmonization and Regulatory Mapping of Global Food Additive Databases</a:t>
                      </a:r>
                    </a:p>
                  </a:txBody>
                  <a:tcPr marL="76200" marR="76200" marT="50800" marB="50800" anchor="ctr"/>
                </a:tc>
                <a:tc>
                  <a:txBody>
                    <a:bodyPr/>
                    <a:lstStyle/>
                    <a:p>
                      <a:pPr marL="0" marR="0" algn="ctr" rtl="0">
                        <a:spcAft>
                          <a:spcPts val="2400"/>
                        </a:spcAft>
                        <a:buNone/>
                      </a:pPr>
                      <a:r>
                        <a:rPr lang="en-IN" sz="1400" dirty="0">
                          <a:solidFill>
                            <a:srgbClr val="1F1F1F"/>
                          </a:solidFill>
                          <a:effectLst/>
                          <a:latin typeface="Times New Roman" panose="02020603050405020304" pitchFamily="18" charset="0"/>
                          <a:cs typeface="Times New Roman" panose="02020603050405020304" pitchFamily="18" charset="0"/>
                        </a:rPr>
                        <a:t>M. Chen, R. V. Pellegrino et al.</a:t>
                      </a:r>
                    </a:p>
                  </a:txBody>
                  <a:tcPr marL="76200" marR="76200" marT="50800" marB="50800" anchor="ctr"/>
                </a:tc>
                <a:tc>
                  <a:txBody>
                    <a:bodyPr/>
                    <a:lstStyle/>
                    <a:p>
                      <a:pPr marL="0" marR="0" algn="ctr" rtl="0">
                        <a:spcAft>
                          <a:spcPts val="2400"/>
                        </a:spcAft>
                        <a:buNone/>
                      </a:pPr>
                      <a:r>
                        <a:rPr lang="en-IN" sz="1400" dirty="0">
                          <a:solidFill>
                            <a:srgbClr val="1F1F1F"/>
                          </a:solidFill>
                          <a:effectLst/>
                          <a:latin typeface="Times New Roman" panose="02020603050405020304" pitchFamily="18" charset="0"/>
                          <a:cs typeface="Times New Roman" panose="02020603050405020304" pitchFamily="18" charset="0"/>
                        </a:rPr>
                        <a:t>2024</a:t>
                      </a:r>
                    </a:p>
                  </a:txBody>
                  <a:tcPr marL="76200" marR="76200" marT="50800" marB="50800" anchor="ctr"/>
                </a:tc>
                <a:tc>
                  <a:txBody>
                    <a:bodyPr/>
                    <a:lstStyle/>
                    <a:p>
                      <a:pPr marL="0" marR="0" algn="ctr" rtl="0">
                        <a:spcAft>
                          <a:spcPts val="2400"/>
                        </a:spcAft>
                        <a:buNone/>
                      </a:pPr>
                      <a:r>
                        <a:rPr lang="en-IN" sz="1400">
                          <a:solidFill>
                            <a:srgbClr val="1F1F1F"/>
                          </a:solidFill>
                          <a:effectLst/>
                          <a:latin typeface="Times New Roman" panose="02020603050405020304" pitchFamily="18" charset="0"/>
                          <a:cs typeface="Times New Roman" panose="02020603050405020304" pitchFamily="18" charset="0"/>
                        </a:rPr>
                        <a:t>Relational Schema Mapping, API Ingestion, Multi-DB Querying</a:t>
                      </a:r>
                    </a:p>
                  </a:txBody>
                  <a:tcPr marL="76200" marR="76200" marT="50800" marB="50800" anchor="ctr"/>
                </a:tc>
                <a:tc>
                  <a:txBody>
                    <a:bodyPr/>
                    <a:lstStyle/>
                    <a:p>
                      <a:pPr marL="0" marR="0" algn="ctr" rtl="0">
                        <a:spcAft>
                          <a:spcPts val="2400"/>
                        </a:spcAft>
                        <a:buNone/>
                      </a:pPr>
                      <a:r>
                        <a:rPr lang="en-IN" sz="1400">
                          <a:solidFill>
                            <a:srgbClr val="1F1F1F"/>
                          </a:solidFill>
                          <a:effectLst/>
                          <a:latin typeface="Times New Roman" panose="02020603050405020304" pitchFamily="18" charset="0"/>
                          <a:cs typeface="Times New Roman" panose="02020603050405020304" pitchFamily="18" charset="0"/>
                        </a:rPr>
                        <a:t>Divergent international regulatory safety standards (FDA vs. EFSA vs. FSSAI) for identical food additives.</a:t>
                      </a:r>
                    </a:p>
                  </a:txBody>
                  <a:tcPr marL="76200" marR="76200" marT="50800" marB="50800" anchor="ctr"/>
                </a:tc>
                <a:extLst>
                  <a:ext uri="{0D108BD9-81ED-4DB2-BD59-A6C34878D82A}">
                    <a16:rowId xmlns:a16="http://schemas.microsoft.com/office/drawing/2014/main" val="4065820314"/>
                  </a:ext>
                </a:extLst>
              </a:tr>
              <a:tr h="1000442">
                <a:tc>
                  <a:txBody>
                    <a:bodyPr/>
                    <a:lstStyle/>
                    <a:p>
                      <a:pPr marL="0" marR="0" algn="ctr" rtl="0">
                        <a:spcAft>
                          <a:spcPts val="2400"/>
                        </a:spcAft>
                        <a:buNone/>
                      </a:pPr>
                      <a:r>
                        <a:rPr lang="en-IN" sz="1400" b="1" dirty="0">
                          <a:solidFill>
                            <a:srgbClr val="1F1F1F"/>
                          </a:solidFill>
                          <a:effectLst/>
                          <a:latin typeface="Times New Roman" panose="02020603050405020304" pitchFamily="18" charset="0"/>
                          <a:cs typeface="Times New Roman" panose="02020603050405020304" pitchFamily="18" charset="0"/>
                        </a:rPr>
                        <a:t>3</a:t>
                      </a:r>
                      <a:endParaRPr lang="en-IN" sz="1400" dirty="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tc>
                <a:tc>
                  <a:txBody>
                    <a:bodyPr/>
                    <a:lstStyle/>
                    <a:p>
                      <a:pPr marL="0" marR="0" algn="ctr" rtl="0">
                        <a:spcAft>
                          <a:spcPts val="2400"/>
                        </a:spcAft>
                        <a:buNone/>
                      </a:pPr>
                      <a:r>
                        <a:rPr lang="en-IN" sz="1400" dirty="0">
                          <a:solidFill>
                            <a:srgbClr val="1F1F1F"/>
                          </a:solidFill>
                          <a:effectLst/>
                          <a:latin typeface="Times New Roman" panose="02020603050405020304" pitchFamily="18" charset="0"/>
                          <a:cs typeface="Times New Roman" panose="02020603050405020304" pitchFamily="18" charset="0"/>
                        </a:rPr>
                        <a:t>Quantitative Risk Assessment and Dynamic Acceptable Daily Intake (ADI) </a:t>
                      </a:r>
                      <a:r>
                        <a:rPr lang="en-IN" sz="1400" dirty="0" err="1">
                          <a:solidFill>
                            <a:srgbClr val="1F1F1F"/>
                          </a:solidFill>
                          <a:effectLst/>
                          <a:latin typeface="Times New Roman" panose="02020603050405020304" pitchFamily="18" charset="0"/>
                          <a:cs typeface="Times New Roman" panose="02020603050405020304" pitchFamily="18" charset="0"/>
                        </a:rPr>
                        <a:t>Modeling</a:t>
                      </a:r>
                      <a:endParaRPr lang="en-IN" sz="1400" dirty="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tc>
                <a:tc>
                  <a:txBody>
                    <a:bodyPr/>
                    <a:lstStyle/>
                    <a:p>
                      <a:pPr marL="0" marR="0" algn="ctr" rtl="0">
                        <a:spcAft>
                          <a:spcPts val="2400"/>
                        </a:spcAft>
                        <a:buNone/>
                      </a:pPr>
                      <a:r>
                        <a:rPr lang="en-IN" sz="1400">
                          <a:solidFill>
                            <a:srgbClr val="1F1F1F"/>
                          </a:solidFill>
                          <a:effectLst/>
                          <a:latin typeface="Times New Roman" panose="02020603050405020304" pitchFamily="18" charset="0"/>
                          <a:cs typeface="Times New Roman" panose="02020603050405020304" pitchFamily="18" charset="0"/>
                        </a:rPr>
                        <a:t>A. Kumar, S. Verma</a:t>
                      </a:r>
                    </a:p>
                  </a:txBody>
                  <a:tcPr marL="76200" marR="76200" marT="50800" marB="50800" anchor="ctr"/>
                </a:tc>
                <a:tc>
                  <a:txBody>
                    <a:bodyPr/>
                    <a:lstStyle/>
                    <a:p>
                      <a:pPr marL="0" marR="0" algn="ctr" rtl="0">
                        <a:spcAft>
                          <a:spcPts val="2400"/>
                        </a:spcAft>
                        <a:buNone/>
                      </a:pPr>
                      <a:r>
                        <a:rPr lang="en-IN" sz="1400">
                          <a:solidFill>
                            <a:srgbClr val="1F1F1F"/>
                          </a:solidFill>
                          <a:effectLst/>
                          <a:latin typeface="Times New Roman" panose="02020603050405020304" pitchFamily="18" charset="0"/>
                          <a:cs typeface="Times New Roman" panose="02020603050405020304" pitchFamily="18" charset="0"/>
                        </a:rPr>
                        <a:t>2025</a:t>
                      </a:r>
                    </a:p>
                  </a:txBody>
                  <a:tcPr marL="76200" marR="76200" marT="50800" marB="50800" anchor="ctr"/>
                </a:tc>
                <a:tc>
                  <a:txBody>
                    <a:bodyPr/>
                    <a:lstStyle/>
                    <a:p>
                      <a:pPr marL="0" marR="0" algn="ctr" rtl="0">
                        <a:spcAft>
                          <a:spcPts val="2400"/>
                        </a:spcAft>
                        <a:buNone/>
                      </a:pPr>
                      <a:r>
                        <a:rPr lang="en-IN" sz="1400">
                          <a:solidFill>
                            <a:srgbClr val="1F1F1F"/>
                          </a:solidFill>
                          <a:effectLst/>
                          <a:latin typeface="Times New Roman" panose="02020603050405020304" pitchFamily="18" charset="0"/>
                          <a:cs typeface="Times New Roman" panose="02020603050405020304" pitchFamily="18" charset="0"/>
                        </a:rPr>
                        <a:t>Statistical Risk Modeling, Weighted Additive Risk Index (ARI)</a:t>
                      </a:r>
                    </a:p>
                  </a:txBody>
                  <a:tcPr marL="76200" marR="76200" marT="50800" marB="50800" anchor="ctr"/>
                </a:tc>
                <a:tc>
                  <a:txBody>
                    <a:bodyPr/>
                    <a:lstStyle/>
                    <a:p>
                      <a:pPr marL="0" marR="0" algn="ctr" rtl="0">
                        <a:spcAft>
                          <a:spcPts val="2400"/>
                        </a:spcAft>
                        <a:buNone/>
                      </a:pPr>
                      <a:r>
                        <a:rPr lang="en-IN" sz="1400">
                          <a:solidFill>
                            <a:srgbClr val="1F1F1F"/>
                          </a:solidFill>
                          <a:effectLst/>
                          <a:latin typeface="Times New Roman" panose="02020603050405020304" pitchFamily="18" charset="0"/>
                          <a:cs typeface="Times New Roman" panose="02020603050405020304" pitchFamily="18" charset="0"/>
                        </a:rPr>
                        <a:t>Lack of personalized additive exposure limits adjusted for user body weight and age constraints.</a:t>
                      </a:r>
                    </a:p>
                  </a:txBody>
                  <a:tcPr marL="76200" marR="76200" marT="50800" marB="50800" anchor="ctr"/>
                </a:tc>
                <a:extLst>
                  <a:ext uri="{0D108BD9-81ED-4DB2-BD59-A6C34878D82A}">
                    <a16:rowId xmlns:a16="http://schemas.microsoft.com/office/drawing/2014/main" val="1091191319"/>
                  </a:ext>
                </a:extLst>
              </a:tr>
              <a:tr h="1000442">
                <a:tc>
                  <a:txBody>
                    <a:bodyPr/>
                    <a:lstStyle/>
                    <a:p>
                      <a:pPr marL="0" marR="0" algn="ctr" rtl="0">
                        <a:spcAft>
                          <a:spcPts val="2400"/>
                        </a:spcAft>
                        <a:buNone/>
                      </a:pPr>
                      <a:r>
                        <a:rPr lang="en-IN" sz="1400" b="1" dirty="0">
                          <a:solidFill>
                            <a:srgbClr val="1F1F1F"/>
                          </a:solidFill>
                          <a:effectLst/>
                          <a:latin typeface="Times New Roman" panose="02020603050405020304" pitchFamily="18" charset="0"/>
                          <a:cs typeface="Times New Roman" panose="02020603050405020304" pitchFamily="18" charset="0"/>
                        </a:rPr>
                        <a:t>4</a:t>
                      </a:r>
                      <a:endParaRPr lang="en-IN" sz="1400" dirty="0">
                        <a:solidFill>
                          <a:srgbClr val="1F1F1F"/>
                        </a:solidFill>
                        <a:effectLst/>
                        <a:latin typeface="Times New Roman" panose="02020603050405020304" pitchFamily="18" charset="0"/>
                        <a:cs typeface="Times New Roman" panose="02020603050405020304" pitchFamily="18" charset="0"/>
                      </a:endParaRPr>
                    </a:p>
                  </a:txBody>
                  <a:tcPr marL="76200" marR="76200" marT="50800" marB="50800" anchor="ctr"/>
                </a:tc>
                <a:tc>
                  <a:txBody>
                    <a:bodyPr/>
                    <a:lstStyle/>
                    <a:p>
                      <a:pPr marL="0" marR="0" algn="ctr" rtl="0">
                        <a:spcAft>
                          <a:spcPts val="2400"/>
                        </a:spcAft>
                        <a:buNone/>
                      </a:pPr>
                      <a:r>
                        <a:rPr lang="en-IN" sz="1400">
                          <a:solidFill>
                            <a:srgbClr val="1F1F1F"/>
                          </a:solidFill>
                          <a:effectLst/>
                          <a:latin typeface="Times New Roman" panose="02020603050405020304" pitchFamily="18" charset="0"/>
                          <a:cs typeface="Times New Roman" panose="02020603050405020304" pitchFamily="18" charset="0"/>
                        </a:rPr>
                        <a:t>Biochemical Matrix Analysis and Food Combination Interaction Rule Engines</a:t>
                      </a:r>
                    </a:p>
                  </a:txBody>
                  <a:tcPr marL="76200" marR="76200" marT="50800" marB="50800" anchor="ctr"/>
                </a:tc>
                <a:tc>
                  <a:txBody>
                    <a:bodyPr/>
                    <a:lstStyle/>
                    <a:p>
                      <a:pPr marL="0" marR="0" algn="ctr" rtl="0">
                        <a:spcAft>
                          <a:spcPts val="2400"/>
                        </a:spcAft>
                        <a:buNone/>
                      </a:pPr>
                      <a:r>
                        <a:rPr lang="en-IN" sz="1400" dirty="0">
                          <a:solidFill>
                            <a:srgbClr val="1F1F1F"/>
                          </a:solidFill>
                          <a:effectLst/>
                          <a:latin typeface="Times New Roman" panose="02020603050405020304" pitchFamily="18" charset="0"/>
                          <a:cs typeface="Times New Roman" panose="02020603050405020304" pitchFamily="18" charset="0"/>
                        </a:rPr>
                        <a:t>J. R. Navarro-Cabrera et al.</a:t>
                      </a:r>
                    </a:p>
                  </a:txBody>
                  <a:tcPr marL="76200" marR="76200" marT="50800" marB="50800" anchor="ctr"/>
                </a:tc>
                <a:tc>
                  <a:txBody>
                    <a:bodyPr/>
                    <a:lstStyle/>
                    <a:p>
                      <a:pPr marL="0" marR="0" algn="ctr" rtl="0">
                        <a:spcAft>
                          <a:spcPts val="2400"/>
                        </a:spcAft>
                        <a:buNone/>
                      </a:pPr>
                      <a:r>
                        <a:rPr lang="en-IN" sz="1400">
                          <a:solidFill>
                            <a:srgbClr val="1F1F1F"/>
                          </a:solidFill>
                          <a:effectLst/>
                          <a:latin typeface="Times New Roman" panose="02020603050405020304" pitchFamily="18" charset="0"/>
                          <a:cs typeface="Times New Roman" panose="02020603050405020304" pitchFamily="18" charset="0"/>
                        </a:rPr>
                        <a:t>2025</a:t>
                      </a:r>
                    </a:p>
                  </a:txBody>
                  <a:tcPr marL="76200" marR="76200" marT="50800" marB="50800" anchor="ctr"/>
                </a:tc>
                <a:tc>
                  <a:txBody>
                    <a:bodyPr/>
                    <a:lstStyle/>
                    <a:p>
                      <a:pPr marL="0" marR="0" algn="ctr" rtl="0">
                        <a:spcAft>
                          <a:spcPts val="2400"/>
                        </a:spcAft>
                        <a:buNone/>
                      </a:pPr>
                      <a:r>
                        <a:rPr lang="en-IN" sz="1400">
                          <a:solidFill>
                            <a:srgbClr val="1F1F1F"/>
                          </a:solidFill>
                          <a:effectLst/>
                          <a:latin typeface="Times New Roman" panose="02020603050405020304" pitchFamily="18" charset="0"/>
                          <a:cs typeface="Times New Roman" panose="02020603050405020304" pitchFamily="18" charset="0"/>
                        </a:rPr>
                        <a:t>Rule-Based Expert Systems, Automated Knowledge Graph Lookup</a:t>
                      </a:r>
                    </a:p>
                  </a:txBody>
                  <a:tcPr marL="76200" marR="76200" marT="50800" marB="50800" anchor="ctr"/>
                </a:tc>
                <a:tc>
                  <a:txBody>
                    <a:bodyPr/>
                    <a:lstStyle/>
                    <a:p>
                      <a:pPr marL="0" marR="0" algn="ctr" rtl="0">
                        <a:spcAft>
                          <a:spcPts val="2400"/>
                        </a:spcAft>
                        <a:buNone/>
                      </a:pPr>
                      <a:r>
                        <a:rPr lang="en-IN" sz="1400" dirty="0">
                          <a:solidFill>
                            <a:srgbClr val="1F1F1F"/>
                          </a:solidFill>
                          <a:effectLst/>
                          <a:latin typeface="Times New Roman" panose="02020603050405020304" pitchFamily="18" charset="0"/>
                          <a:cs typeface="Times New Roman" panose="02020603050405020304" pitchFamily="18" charset="0"/>
                        </a:rPr>
                        <a:t>Unidentified digestive distress and physiological risks caused by incompatible chemical food pairings.</a:t>
                      </a:r>
                    </a:p>
                  </a:txBody>
                  <a:tcPr marL="76200" marR="76200" marT="50800" marB="50800" anchor="ctr"/>
                </a:tc>
                <a:extLst>
                  <a:ext uri="{0D108BD9-81ED-4DB2-BD59-A6C34878D82A}">
                    <a16:rowId xmlns:a16="http://schemas.microsoft.com/office/drawing/2014/main" val="4105009301"/>
                  </a:ext>
                </a:extLst>
              </a:tr>
            </a:tbl>
          </a:graphicData>
        </a:graphic>
      </p:graphicFrame>
    </p:spTree>
    <p:extLst>
      <p:ext uri="{BB962C8B-B14F-4D97-AF65-F5344CB8AC3E}">
        <p14:creationId xmlns:p14="http://schemas.microsoft.com/office/powerpoint/2010/main" val="2052342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F1BD3-2D47-67BD-747F-3A4FF0C6044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4897D9B-89BA-EFF3-7CCE-BC7083AAC52C}"/>
              </a:ext>
            </a:extLst>
          </p:cNvPr>
          <p:cNvSpPr txBox="1"/>
          <p:nvPr/>
        </p:nvSpPr>
        <p:spPr>
          <a:xfrm>
            <a:off x="1" y="615007"/>
            <a:ext cx="12191999"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EXISTING SYSTEM</a:t>
            </a:r>
          </a:p>
        </p:txBody>
      </p:sp>
      <p:pic>
        <p:nvPicPr>
          <p:cNvPr id="4" name="object 4">
            <a:extLst>
              <a:ext uri="{FF2B5EF4-FFF2-40B4-BE49-F238E27FC236}">
                <a16:creationId xmlns:a16="http://schemas.microsoft.com/office/drawing/2014/main" id="{89B4382E-0511-23A6-19A2-74771568EF21}"/>
              </a:ext>
            </a:extLst>
          </p:cNvPr>
          <p:cNvPicPr/>
          <p:nvPr/>
        </p:nvPicPr>
        <p:blipFill>
          <a:blip r:embed="rId2" cstate="print"/>
          <a:stretch>
            <a:fillRect/>
          </a:stretch>
        </p:blipFill>
        <p:spPr>
          <a:xfrm>
            <a:off x="524992" y="191643"/>
            <a:ext cx="1103582" cy="1342897"/>
          </a:xfrm>
          <a:prstGeom prst="rect">
            <a:avLst/>
          </a:prstGeom>
        </p:spPr>
      </p:pic>
      <p:pic>
        <p:nvPicPr>
          <p:cNvPr id="5" name="object 5">
            <a:extLst>
              <a:ext uri="{FF2B5EF4-FFF2-40B4-BE49-F238E27FC236}">
                <a16:creationId xmlns:a16="http://schemas.microsoft.com/office/drawing/2014/main" id="{49D3B425-FE12-9479-DDB1-E5717867375A}"/>
              </a:ext>
            </a:extLst>
          </p:cNvPr>
          <p:cNvPicPr/>
          <p:nvPr/>
        </p:nvPicPr>
        <p:blipFill>
          <a:blip r:embed="rId3" cstate="print"/>
          <a:stretch>
            <a:fillRect/>
          </a:stretch>
        </p:blipFill>
        <p:spPr>
          <a:xfrm>
            <a:off x="10272497" y="191643"/>
            <a:ext cx="1520062" cy="1342897"/>
          </a:xfrm>
          <a:prstGeom prst="rect">
            <a:avLst/>
          </a:prstGeom>
        </p:spPr>
      </p:pic>
      <p:sp>
        <p:nvSpPr>
          <p:cNvPr id="7" name="Rectangle 2">
            <a:extLst>
              <a:ext uri="{FF2B5EF4-FFF2-40B4-BE49-F238E27FC236}">
                <a16:creationId xmlns:a16="http://schemas.microsoft.com/office/drawing/2014/main" id="{A74BF758-6663-5913-D4E6-87DBD7801759}"/>
              </a:ext>
            </a:extLst>
          </p:cNvPr>
          <p:cNvSpPr>
            <a:spLocks noChangeArrowheads="1"/>
          </p:cNvSpPr>
          <p:nvPr/>
        </p:nvSpPr>
        <p:spPr bwMode="auto">
          <a:xfrm>
            <a:off x="5251938" y="1534540"/>
            <a:ext cx="6540621"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dirty="0">
                <a:latin typeface="Times New Roman" panose="02020603050405020304" pitchFamily="18" charset="0"/>
                <a:cs typeface="Times New Roman" panose="02020603050405020304" pitchFamily="18" charset="0"/>
              </a:rPr>
              <a:t>Current platforms (like Yuka or Open Food Facts) rely on barcode lookups, basic OCR, and static nutrient scoring (e.g., Nutri-Score) to flag basic product details.</a:t>
            </a:r>
          </a:p>
          <a:p>
            <a:pPr algn="ctr"/>
            <a:r>
              <a:rPr lang="en-IN" b="1" dirty="0">
                <a:latin typeface="Times New Roman" panose="02020603050405020304" pitchFamily="18" charset="0"/>
                <a:cs typeface="Times New Roman" panose="02020603050405020304" pitchFamily="18" charset="0"/>
              </a:rPr>
              <a:t>Key Disadvantages &amp; Gaps</a:t>
            </a:r>
          </a:p>
          <a:p>
            <a:pPr marL="28575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Barcode Dependency:</a:t>
            </a:r>
            <a:r>
              <a:rPr lang="en-IN" dirty="0">
                <a:latin typeface="Times New Roman" panose="02020603050405020304" pitchFamily="18" charset="0"/>
                <a:cs typeface="Times New Roman" panose="02020603050405020304" pitchFamily="18" charset="0"/>
              </a:rPr>
              <a:t> Fails when products are unindexed or packaging text is noisy, missing entity-linking for chemical names and E-numbers.</a:t>
            </a:r>
          </a:p>
          <a:p>
            <a:pPr marL="28575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Single-Region Bias:</a:t>
            </a:r>
            <a:r>
              <a:rPr lang="en-IN" dirty="0">
                <a:latin typeface="Times New Roman" panose="02020603050405020304" pitchFamily="18" charset="0"/>
                <a:cs typeface="Times New Roman" panose="02020603050405020304" pitchFamily="18" charset="0"/>
              </a:rPr>
              <a:t> Ignores cross-border regulatory differences across the </a:t>
            </a:r>
            <a:r>
              <a:rPr lang="en-IN" b="1" dirty="0">
                <a:latin typeface="Times New Roman" panose="02020603050405020304" pitchFamily="18" charset="0"/>
                <a:cs typeface="Times New Roman" panose="02020603050405020304" pitchFamily="18" charset="0"/>
              </a:rPr>
              <a:t>FDA</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EFSA</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FSSAI</a:t>
            </a:r>
            <a:r>
              <a:rPr lang="en-IN" dirty="0">
                <a:latin typeface="Times New Roman" panose="02020603050405020304" pitchFamily="18" charset="0"/>
                <a:cs typeface="Times New Roman" panose="02020603050405020304" pitchFamily="18" charset="0"/>
              </a:rPr>
              <a:t> (e.g., additives legal in one country but banned in another).</a:t>
            </a:r>
          </a:p>
          <a:p>
            <a:pPr marL="28575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Static, One-Size-Fits-All Scores:</a:t>
            </a:r>
            <a:r>
              <a:rPr lang="en-IN" dirty="0">
                <a:latin typeface="Times New Roman" panose="02020603050405020304" pitchFamily="18" charset="0"/>
                <a:cs typeface="Times New Roman" panose="02020603050405020304" pitchFamily="18" charset="0"/>
              </a:rPr>
              <a:t> Uses generic flags instead of personalized </a:t>
            </a:r>
            <a:r>
              <a:rPr lang="en-IN" b="1" dirty="0">
                <a:latin typeface="Times New Roman" panose="02020603050405020304" pitchFamily="18" charset="0"/>
                <a:cs typeface="Times New Roman" panose="02020603050405020304" pitchFamily="18" charset="0"/>
              </a:rPr>
              <a:t>Acceptable Daily Intake (ADI)</a:t>
            </a:r>
            <a:r>
              <a:rPr lang="en-IN" dirty="0">
                <a:latin typeface="Times New Roman" panose="02020603050405020304" pitchFamily="18" charset="0"/>
                <a:cs typeface="Times New Roman" panose="02020603050405020304" pitchFamily="18" charset="0"/>
              </a:rPr>
              <a:t> thresholds based on age and body weight.</a:t>
            </a:r>
          </a:p>
          <a:p>
            <a:pPr marL="28575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No Food-Interaction Awareness:</a:t>
            </a:r>
            <a:r>
              <a:rPr lang="en-IN" dirty="0">
                <a:latin typeface="Times New Roman" panose="02020603050405020304" pitchFamily="18" charset="0"/>
                <a:cs typeface="Times New Roman" panose="02020603050405020304" pitchFamily="18" charset="0"/>
              </a:rPr>
              <a:t> Evaluates items in isolation, failing to detect harmful meal-level pairings (e.g., high-acid drinks paired with dairy/legumes).</a:t>
            </a:r>
          </a:p>
          <a:p>
            <a:pPr marL="28575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No Long-Term Tracking:</a:t>
            </a:r>
            <a:r>
              <a:rPr lang="en-IN" dirty="0">
                <a:latin typeface="Times New Roman" panose="02020603050405020304" pitchFamily="18" charset="0"/>
                <a:cs typeface="Times New Roman" panose="02020603050405020304" pitchFamily="18" charset="0"/>
              </a:rPr>
              <a:t> Lacks analytics to monitor cumulative, long-term additive consumption over time.</a:t>
            </a:r>
          </a:p>
        </p:txBody>
      </p:sp>
      <p:pic>
        <p:nvPicPr>
          <p:cNvPr id="9" name="Picture 8" descr="The image illustrates a diagram explaining the use of preservatives and artificial colors in food, highlighting their regulation and potential health implications, including eye safety and the need for harmonized barcodes in the food industry.&#10;&#10;AI-generated content may be incorrect.">
            <a:extLst>
              <a:ext uri="{FF2B5EF4-FFF2-40B4-BE49-F238E27FC236}">
                <a16:creationId xmlns:a16="http://schemas.microsoft.com/office/drawing/2014/main" id="{75C8DC63-C0CD-D373-8E10-2008B115CF55}"/>
              </a:ext>
            </a:extLst>
          </p:cNvPr>
          <p:cNvPicPr>
            <a:picLocks noChangeAspect="1"/>
          </p:cNvPicPr>
          <p:nvPr/>
        </p:nvPicPr>
        <p:blipFill>
          <a:blip r:embed="rId4"/>
          <a:stretch>
            <a:fillRect/>
          </a:stretch>
        </p:blipFill>
        <p:spPr>
          <a:xfrm>
            <a:off x="524993" y="2024066"/>
            <a:ext cx="4453408" cy="3628587"/>
          </a:xfrm>
          <a:prstGeom prst="rect">
            <a:avLst/>
          </a:prstGeom>
        </p:spPr>
      </p:pic>
    </p:spTree>
    <p:extLst>
      <p:ext uri="{BB962C8B-B14F-4D97-AF65-F5344CB8AC3E}">
        <p14:creationId xmlns:p14="http://schemas.microsoft.com/office/powerpoint/2010/main" val="4082278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6A81E-1B63-E255-7143-927A87982CFF}"/>
            </a:ext>
          </a:extLst>
        </p:cNvPr>
        <p:cNvGrpSpPr/>
        <p:nvPr/>
      </p:nvGrpSpPr>
      <p:grpSpPr>
        <a:xfrm>
          <a:off x="0" y="0"/>
          <a:ext cx="0" cy="0"/>
          <a:chOff x="0" y="0"/>
          <a:chExt cx="0" cy="0"/>
        </a:xfrm>
      </p:grpSpPr>
      <p:pic>
        <p:nvPicPr>
          <p:cNvPr id="4" name="object 4">
            <a:extLst>
              <a:ext uri="{FF2B5EF4-FFF2-40B4-BE49-F238E27FC236}">
                <a16:creationId xmlns:a16="http://schemas.microsoft.com/office/drawing/2014/main" id="{C6AA83FF-3DB0-9CB1-14FD-7CCCAD808823}"/>
              </a:ext>
            </a:extLst>
          </p:cNvPr>
          <p:cNvPicPr/>
          <p:nvPr/>
        </p:nvPicPr>
        <p:blipFill>
          <a:blip r:embed="rId3" cstate="print"/>
          <a:stretch>
            <a:fillRect/>
          </a:stretch>
        </p:blipFill>
        <p:spPr>
          <a:xfrm>
            <a:off x="524992" y="191643"/>
            <a:ext cx="1103582" cy="1342897"/>
          </a:xfrm>
          <a:prstGeom prst="rect">
            <a:avLst/>
          </a:prstGeom>
        </p:spPr>
      </p:pic>
      <p:pic>
        <p:nvPicPr>
          <p:cNvPr id="5" name="object 5">
            <a:extLst>
              <a:ext uri="{FF2B5EF4-FFF2-40B4-BE49-F238E27FC236}">
                <a16:creationId xmlns:a16="http://schemas.microsoft.com/office/drawing/2014/main" id="{BB21EE01-EE9D-DB4E-3649-BAA5D32B5358}"/>
              </a:ext>
            </a:extLst>
          </p:cNvPr>
          <p:cNvPicPr/>
          <p:nvPr/>
        </p:nvPicPr>
        <p:blipFill>
          <a:blip r:embed="rId4" cstate="print"/>
          <a:stretch>
            <a:fillRect/>
          </a:stretch>
        </p:blipFill>
        <p:spPr>
          <a:xfrm>
            <a:off x="10272497" y="191643"/>
            <a:ext cx="1520062" cy="1342897"/>
          </a:xfrm>
          <a:prstGeom prst="rect">
            <a:avLst/>
          </a:prstGeom>
        </p:spPr>
      </p:pic>
      <p:sp>
        <p:nvSpPr>
          <p:cNvPr id="6" name="TextBox 5">
            <a:extLst>
              <a:ext uri="{FF2B5EF4-FFF2-40B4-BE49-F238E27FC236}">
                <a16:creationId xmlns:a16="http://schemas.microsoft.com/office/drawing/2014/main" id="{678EFDF4-D7EC-F10B-9AFD-00DFCB0FDF60}"/>
              </a:ext>
            </a:extLst>
          </p:cNvPr>
          <p:cNvSpPr txBox="1"/>
          <p:nvPr/>
        </p:nvSpPr>
        <p:spPr>
          <a:xfrm>
            <a:off x="0" y="615006"/>
            <a:ext cx="12192000" cy="646331"/>
          </a:xfrm>
          <a:prstGeom prst="rect">
            <a:avLst/>
          </a:prstGeom>
          <a:noFill/>
        </p:spPr>
        <p:txBody>
          <a:bodyPr wrap="square">
            <a:spAutoFit/>
          </a:bodyPr>
          <a:lstStyle/>
          <a:p>
            <a:pPr algn="ctr"/>
            <a:r>
              <a:rPr lang="en-IN" altLang="en-IN" sz="3600" b="1" dirty="0">
                <a:latin typeface="Times New Roman" panose="02020603050405020304" pitchFamily="18" charset="0"/>
                <a:cs typeface="Times New Roman" panose="02020603050405020304" pitchFamily="18" charset="0"/>
              </a:rPr>
              <a:t>PROPOSED SYSTEM</a:t>
            </a:r>
            <a:endParaRPr lang="en-US" sz="3600" b="1" dirty="0"/>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5D07DA07-98ED-BB62-705A-0E80F7FE524E}"/>
                  </a:ext>
                </a:extLst>
              </p:cNvPr>
              <p:cNvSpPr>
                <a:spLocks noChangeArrowheads="1"/>
              </p:cNvSpPr>
              <p:nvPr/>
            </p:nvSpPr>
            <p:spPr bwMode="auto">
              <a:xfrm>
                <a:off x="598883" y="1684700"/>
                <a:ext cx="7104244" cy="477053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600" b="1" dirty="0" err="1">
                    <a:latin typeface="Times New Roman" panose="02020603050405020304" pitchFamily="18" charset="0"/>
                    <a:cs typeface="Times New Roman" panose="02020603050405020304" pitchFamily="18" charset="0"/>
                  </a:rPr>
                  <a:t>NutriTrace</a:t>
                </a:r>
                <a:r>
                  <a:rPr lang="en-IN" sz="1600" dirty="0">
                    <a:latin typeface="Times New Roman" panose="02020603050405020304" pitchFamily="18" charset="0"/>
                    <a:cs typeface="Times New Roman" panose="02020603050405020304" pitchFamily="18" charset="0"/>
                  </a:rPr>
                  <a:t> is an AI-driven, full-stack data science platform that transforms unstructured food packaging images into real-time, personalized toxicological insights and biochemical analytics.</a:t>
                </a:r>
              </a:p>
              <a:p>
                <a:pPr algn="ctr"/>
                <a:r>
                  <a:rPr lang="en-IN" sz="1600" b="1" dirty="0">
                    <a:latin typeface="Times New Roman" panose="02020603050405020304" pitchFamily="18" charset="0"/>
                    <a:cs typeface="Times New Roman" panose="02020603050405020304" pitchFamily="18" charset="0"/>
                  </a:rPr>
                  <a:t>Key Modules &amp; Features</a:t>
                </a:r>
              </a:p>
              <a:p>
                <a:pPr marL="285750" indent="-285750">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Multi-Modal Vision &amp; Entity Parsing Engine:</a:t>
                </a:r>
                <a:r>
                  <a:rPr lang="en-IN" sz="1600" dirty="0">
                    <a:latin typeface="Times New Roman" panose="02020603050405020304" pitchFamily="18" charset="0"/>
                    <a:cs typeface="Times New Roman" panose="02020603050405020304" pitchFamily="18" charset="0"/>
                  </a:rPr>
                  <a:t> Extracts raw text from product labels using OCR and applies Named Entity Recognition (NER) to standardize ambiguous chemical names and E-numbers.</a:t>
                </a:r>
              </a:p>
              <a:p>
                <a:pPr marL="285750" indent="-285750">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Unified Global Regulatory Pipeline:</a:t>
                </a:r>
                <a:r>
                  <a:rPr lang="en-IN" sz="1600" dirty="0">
                    <a:latin typeface="Times New Roman" panose="02020603050405020304" pitchFamily="18" charset="0"/>
                    <a:cs typeface="Times New Roman" panose="02020603050405020304" pitchFamily="18" charset="0"/>
                  </a:rPr>
                  <a:t> Cross-checks parsed additives against a consolidated multi-jurisdictional database (</a:t>
                </a:r>
                <a:r>
                  <a:rPr lang="en-IN" sz="1600" b="1" dirty="0">
                    <a:latin typeface="Times New Roman" panose="02020603050405020304" pitchFamily="18" charset="0"/>
                    <a:cs typeface="Times New Roman" panose="02020603050405020304" pitchFamily="18" charset="0"/>
                  </a:rPr>
                  <a:t>FDA</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EFSA</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FSSAI</a:t>
                </a:r>
                <a:r>
                  <a:rPr lang="en-IN" sz="1600" dirty="0">
                    <a:latin typeface="Times New Roman" panose="02020603050405020304" pitchFamily="18" charset="0"/>
                    <a:cs typeface="Times New Roman" panose="02020603050405020304" pitchFamily="18" charset="0"/>
                  </a:rPr>
                  <a:t>) to reveal cross-border regulatory disparities and regional bans.</a:t>
                </a:r>
              </a:p>
              <a:p>
                <a:pPr marL="285750" indent="-285750">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Dynamic Acceptable Daily Intake (ADI) Engine:</a:t>
                </a:r>
                <a:r>
                  <a:rPr lang="en-IN" sz="1600" dirty="0">
                    <a:latin typeface="Times New Roman" panose="02020603050405020304" pitchFamily="18" charset="0"/>
                    <a:cs typeface="Times New Roman" panose="02020603050405020304" pitchFamily="18" charset="0"/>
                  </a:rPr>
                  <a:t> Calculates personalized intake limits and additive risk scores scaled directly to user age and body weight (</a:t>
                </a:r>
                <a14:m>
                  <m:oMath xmlns:m="http://schemas.openxmlformats.org/officeDocument/2006/math">
                    <m:r>
                      <a:rPr lang="en-IN" sz="1600" i="1">
                        <a:latin typeface="Cambria Math" panose="02040503050406030204" pitchFamily="18" charset="0"/>
                      </a:rPr>
                      <m:t>𝑘𝑔</m:t>
                    </m:r>
                  </m:oMath>
                </a14:m>
                <a:r>
                  <a:rPr lang="en-IN" sz="1600"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Biochemical Food Interaction Engine:</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Analyzes</a:t>
                </a:r>
                <a:r>
                  <a:rPr lang="en-IN" sz="1600" dirty="0">
                    <a:latin typeface="Times New Roman" panose="02020603050405020304" pitchFamily="18" charset="0"/>
                    <a:cs typeface="Times New Roman" panose="02020603050405020304" pitchFamily="18" charset="0"/>
                  </a:rPr>
                  <a:t> food matrix properties (pH levels, protein types) to detect and flag incompatible food pairings during a meal.</a:t>
                </a:r>
              </a:p>
              <a:p>
                <a:pPr marL="285750" indent="-285750">
                  <a:buFont typeface="Wingdings" panose="05000000000000000000" pitchFamily="2" charset="2"/>
                  <a:buChar char="Ø"/>
                </a:pPr>
                <a:r>
                  <a:rPr lang="en-IN" sz="1600" b="1" dirty="0">
                    <a:latin typeface="Times New Roman" panose="02020603050405020304" pitchFamily="18" charset="0"/>
                    <a:cs typeface="Times New Roman" panose="02020603050405020304" pitchFamily="18" charset="0"/>
                  </a:rPr>
                  <a:t>Account-Based Monthly Analytics Dashboard:</a:t>
                </a:r>
                <a:r>
                  <a:rPr lang="en-IN" sz="1600" dirty="0">
                    <a:latin typeface="Times New Roman" panose="02020603050405020304" pitchFamily="18" charset="0"/>
                    <a:cs typeface="Times New Roman" panose="02020603050405020304" pitchFamily="18" charset="0"/>
                  </a:rPr>
                  <a:t> Tracks long-term consumption patterns, logs cumulative chemical exposure, and delivers intelligent </a:t>
                </a:r>
                <a:r>
                  <a:rPr lang="en-IN" sz="1600" dirty="0" err="1">
                    <a:latin typeface="Times New Roman" panose="02020603050405020304" pitchFamily="18" charset="0"/>
                    <a:cs typeface="Times New Roman" panose="02020603050405020304" pitchFamily="18" charset="0"/>
                  </a:rPr>
                  <a:t>behavioral</a:t>
                </a:r>
                <a:r>
                  <a:rPr lang="en-IN" sz="1600" dirty="0">
                    <a:latin typeface="Times New Roman" panose="02020603050405020304" pitchFamily="18" charset="0"/>
                    <a:cs typeface="Times New Roman" panose="02020603050405020304" pitchFamily="18" charset="0"/>
                  </a:rPr>
                  <a:t> nudges to prevent toxicological build-up over time.</a:t>
                </a:r>
              </a:p>
            </p:txBody>
          </p:sp>
        </mc:Choice>
        <mc:Fallback>
          <p:sp>
            <p:nvSpPr>
              <p:cNvPr id="2" name="Rectangle 1">
                <a:extLst>
                  <a:ext uri="{FF2B5EF4-FFF2-40B4-BE49-F238E27FC236}">
                    <a16:creationId xmlns:a16="http://schemas.microsoft.com/office/drawing/2014/main" id="{5D07DA07-98ED-BB62-705A-0E80F7FE524E}"/>
                  </a:ext>
                </a:extLst>
              </p:cNvPr>
              <p:cNvSpPr>
                <a:spLocks noRot="1" noChangeAspect="1" noMove="1" noResize="1" noEditPoints="1" noAdjustHandles="1" noChangeArrowheads="1" noChangeShapeType="1" noTextEdit="1"/>
              </p:cNvSpPr>
              <p:nvPr/>
            </p:nvSpPr>
            <p:spPr bwMode="auto">
              <a:xfrm>
                <a:off x="598883" y="1684700"/>
                <a:ext cx="7104244" cy="4770537"/>
              </a:xfrm>
              <a:prstGeom prst="rect">
                <a:avLst/>
              </a:prstGeom>
              <a:blipFill>
                <a:blip r:embed="rId5"/>
                <a:stretch>
                  <a:fillRect l="-429" r="-600" b="-114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pic>
        <p:nvPicPr>
          <p:cNvPr id="7" name="Picture 6" descr="The image illustrates a detailed flowchart of the Nutrition Traceability System (NUTRITRACE), highlighting its process from extraction to risk assessment, including references to regulatory standards and the integration of advanced technologies like AI, OCR, and multimodal data processing.&#10;&#10;AI-generated content may be incorrect.">
            <a:extLst>
              <a:ext uri="{FF2B5EF4-FFF2-40B4-BE49-F238E27FC236}">
                <a16:creationId xmlns:a16="http://schemas.microsoft.com/office/drawing/2014/main" id="{9DC3A97D-7AE1-3F1A-2214-918B044F1363}"/>
              </a:ext>
            </a:extLst>
          </p:cNvPr>
          <p:cNvPicPr>
            <a:picLocks noChangeAspect="1"/>
          </p:cNvPicPr>
          <p:nvPr/>
        </p:nvPicPr>
        <p:blipFill>
          <a:blip r:embed="rId6"/>
          <a:stretch>
            <a:fillRect/>
          </a:stretch>
        </p:blipFill>
        <p:spPr>
          <a:xfrm>
            <a:off x="7876934" y="2079531"/>
            <a:ext cx="3572678" cy="3980873"/>
          </a:xfrm>
          <a:prstGeom prst="rect">
            <a:avLst/>
          </a:prstGeom>
        </p:spPr>
      </p:pic>
    </p:spTree>
    <p:extLst>
      <p:ext uri="{BB962C8B-B14F-4D97-AF65-F5344CB8AC3E}">
        <p14:creationId xmlns:p14="http://schemas.microsoft.com/office/powerpoint/2010/main" val="2149950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e image illustrates a nutrition trace process flow, starting with user interface elements like image upload and barcode scanning, followed by ingestion and vision layer analysis, core analytics including regulatory checks and interaction analysis, database storage, and concluding with a dashboard output that provides safety indices, warnings, and downloadable reports.&#10;&#10;AI-generated content may be incorrect.">
            <a:extLst>
              <a:ext uri="{FF2B5EF4-FFF2-40B4-BE49-F238E27FC236}">
                <a16:creationId xmlns:a16="http://schemas.microsoft.com/office/drawing/2014/main" id="{C86470E3-BA24-EDFF-3C3F-300B9C59BC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218" y="332509"/>
            <a:ext cx="11416146" cy="6179128"/>
          </a:xfrm>
          <a:prstGeom prst="rect">
            <a:avLst/>
          </a:prstGeom>
        </p:spPr>
      </p:pic>
    </p:spTree>
    <p:extLst>
      <p:ext uri="{BB962C8B-B14F-4D97-AF65-F5344CB8AC3E}">
        <p14:creationId xmlns:p14="http://schemas.microsoft.com/office/powerpoint/2010/main" val="278111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855FFB-25D7-D237-13FE-424E6DA8BA49}"/>
              </a:ext>
            </a:extLst>
          </p:cNvPr>
          <p:cNvSpPr txBox="1"/>
          <p:nvPr/>
        </p:nvSpPr>
        <p:spPr>
          <a:xfrm>
            <a:off x="361710" y="1441315"/>
            <a:ext cx="6363181" cy="4247317"/>
          </a:xfrm>
          <a:prstGeom prst="rect">
            <a:avLst/>
          </a:prstGeom>
          <a:noFill/>
        </p:spPr>
        <p:txBody>
          <a:bodyPr wrap="square">
            <a:spAutoFit/>
          </a:bodyPr>
          <a:lstStyle/>
          <a:p>
            <a:pPr marL="285750" indent="-285750">
              <a:buFont typeface="Wingdings" panose="05000000000000000000" pitchFamily="2" charset="2"/>
              <a:buChar char="Ø"/>
            </a:pPr>
            <a:r>
              <a:rPr lang="en-IN" b="1" dirty="0" err="1">
                <a:latin typeface="Times New Roman" panose="02020603050405020304" pitchFamily="18" charset="0"/>
                <a:cs typeface="Times New Roman" panose="02020603050405020304" pitchFamily="18" charset="0"/>
              </a:rPr>
              <a:t>NutriTrace</a:t>
            </a:r>
            <a:r>
              <a:rPr lang="en-IN" dirty="0">
                <a:latin typeface="Times New Roman" panose="02020603050405020304" pitchFamily="18" charset="0"/>
                <a:cs typeface="Times New Roman" panose="02020603050405020304" pitchFamily="18" charset="0"/>
              </a:rPr>
              <a:t> bridges the gap between raw, unstructured food supply chain data and personalized consumer health analytics.</a:t>
            </a:r>
          </a:p>
          <a:p>
            <a:pPr marL="285750" indent="-285750">
              <a:buFont typeface="Wingdings" panose="05000000000000000000" pitchFamily="2" charset="2"/>
              <a:buChar char="Ø"/>
            </a:pPr>
            <a:r>
              <a:rPr lang="en-IN" dirty="0" err="1">
                <a:latin typeface="Times New Roman" panose="02020603050405020304" pitchFamily="18" charset="0"/>
                <a:cs typeface="Times New Roman" panose="02020603050405020304" pitchFamily="18" charset="0"/>
              </a:rPr>
              <a:t>NutriTrace</a:t>
            </a:r>
            <a:r>
              <a:rPr lang="en-IN" dirty="0">
                <a:latin typeface="Times New Roman" panose="02020603050405020304" pitchFamily="18" charset="0"/>
                <a:cs typeface="Times New Roman" panose="02020603050405020304" pitchFamily="18" charset="0"/>
              </a:rPr>
              <a:t> provides an AI-driven, multi-modal solution capable of complex ingredient lists, evaluating multi-jurisdictional regulatory discrepancies .</a:t>
            </a:r>
          </a:p>
          <a:p>
            <a:pPr marL="28575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Biochemical Food Interaction Engine</a:t>
            </a:r>
            <a:r>
              <a:rPr lang="en-IN" dirty="0">
                <a:latin typeface="Times New Roman" panose="02020603050405020304" pitchFamily="18" charset="0"/>
                <a:cs typeface="Times New Roman" panose="02020603050405020304" pitchFamily="18" charset="0"/>
              </a:rPr>
              <a:t> and monthly cumulative tracking capabilities.</a:t>
            </a: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NutriTrace</a:t>
            </a:r>
            <a:r>
              <a:rPr lang="en-IN" dirty="0">
                <a:latin typeface="Times New Roman" panose="02020603050405020304" pitchFamily="18" charset="0"/>
                <a:cs typeface="Times New Roman" panose="02020603050405020304" pitchFamily="18" charset="0"/>
              </a:rPr>
              <a:t> addresses acute digestive risks and long-term toxicological build-up that existing solutions completely overlook.</a:t>
            </a: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Ultimately, this project demonstrates the high-impact potential of combining </a:t>
            </a:r>
            <a:r>
              <a:rPr lang="en-IN" b="1" dirty="0">
                <a:latin typeface="Times New Roman" panose="02020603050405020304" pitchFamily="18" charset="0"/>
                <a:cs typeface="Times New Roman" panose="02020603050405020304" pitchFamily="18" charset="0"/>
              </a:rPr>
              <a:t>Data Engineering &amp;</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Biochemical Analytics</a:t>
            </a:r>
            <a:r>
              <a:rPr lang="en-IN" dirty="0">
                <a:latin typeface="Times New Roman" panose="02020603050405020304" pitchFamily="18" charset="0"/>
                <a:cs typeface="Times New Roman" panose="02020603050405020304" pitchFamily="18" charset="0"/>
              </a:rPr>
              <a:t>—delivering a scalable, full-stack framework that empowers consumers, health researchers, and regulatory bodies to make data-driven decisions about global food safety.</a:t>
            </a:r>
          </a:p>
        </p:txBody>
      </p:sp>
      <p:sp>
        <p:nvSpPr>
          <p:cNvPr id="7" name="TextBox 6">
            <a:extLst>
              <a:ext uri="{FF2B5EF4-FFF2-40B4-BE49-F238E27FC236}">
                <a16:creationId xmlns:a16="http://schemas.microsoft.com/office/drawing/2014/main" id="{C6AF342A-3EFF-DA3F-DAD4-A35B5FA797EF}"/>
              </a:ext>
            </a:extLst>
          </p:cNvPr>
          <p:cNvSpPr txBox="1"/>
          <p:nvPr/>
        </p:nvSpPr>
        <p:spPr>
          <a:xfrm>
            <a:off x="4354975" y="388129"/>
            <a:ext cx="3135716" cy="742511"/>
          </a:xfrm>
          <a:prstGeom prst="rect">
            <a:avLst/>
          </a:prstGeom>
          <a:noFill/>
        </p:spPr>
        <p:txBody>
          <a:bodyPr wrap="square">
            <a:spAutoFit/>
          </a:bodyPr>
          <a:lstStyle/>
          <a:p>
            <a:pPr algn="just">
              <a:lnSpc>
                <a:spcPct val="150000"/>
              </a:lnSpc>
              <a:buNone/>
            </a:pPr>
            <a:r>
              <a:rPr lang="en-IN" sz="3200" b="1" dirty="0">
                <a:latin typeface="Times New Roman" panose="02020603050405020304" pitchFamily="18" charset="0"/>
                <a:cs typeface="Times New Roman" panose="02020603050405020304" pitchFamily="18" charset="0"/>
              </a:rPr>
              <a:t>CONCLUSION</a:t>
            </a:r>
          </a:p>
        </p:txBody>
      </p:sp>
      <p:pic>
        <p:nvPicPr>
          <p:cNvPr id="3" name="Picture 2" descr="The image illustrates a detailed diagram of the NutraceTrace project, showcasing its components and capabilities, including a high accuracy in ingredient recognition, global regulatory coverage, certified health audits, and an advanced AI-powered data processing system for food safety and quality control.&#10;&#10;AI-generated content may be incorrect.">
            <a:extLst>
              <a:ext uri="{FF2B5EF4-FFF2-40B4-BE49-F238E27FC236}">
                <a16:creationId xmlns:a16="http://schemas.microsoft.com/office/drawing/2014/main" id="{21A75E63-26B6-2893-E35F-C7972B351C28}"/>
              </a:ext>
            </a:extLst>
          </p:cNvPr>
          <p:cNvPicPr>
            <a:picLocks noChangeAspect="1"/>
          </p:cNvPicPr>
          <p:nvPr/>
        </p:nvPicPr>
        <p:blipFill>
          <a:blip r:embed="rId2"/>
          <a:stretch>
            <a:fillRect/>
          </a:stretch>
        </p:blipFill>
        <p:spPr>
          <a:xfrm>
            <a:off x="6908800" y="1334966"/>
            <a:ext cx="4499879" cy="5014011"/>
          </a:xfrm>
          <a:prstGeom prst="rect">
            <a:avLst/>
          </a:prstGeom>
        </p:spPr>
      </p:pic>
    </p:spTree>
    <p:extLst>
      <p:ext uri="{BB962C8B-B14F-4D97-AF65-F5344CB8AC3E}">
        <p14:creationId xmlns:p14="http://schemas.microsoft.com/office/powerpoint/2010/main" val="1985142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9FDA1-45B4-C727-6F2B-5AC15CCCB7D7}"/>
            </a:ext>
          </a:extLst>
        </p:cNvPr>
        <p:cNvGrpSpPr/>
        <p:nvPr/>
      </p:nvGrpSpPr>
      <p:grpSpPr>
        <a:xfrm>
          <a:off x="0" y="0"/>
          <a:ext cx="0" cy="0"/>
          <a:chOff x="0" y="0"/>
          <a:chExt cx="0" cy="0"/>
        </a:xfrm>
      </p:grpSpPr>
      <p:pic>
        <p:nvPicPr>
          <p:cNvPr id="4" name="object 4">
            <a:extLst>
              <a:ext uri="{FF2B5EF4-FFF2-40B4-BE49-F238E27FC236}">
                <a16:creationId xmlns:a16="http://schemas.microsoft.com/office/drawing/2014/main" id="{4A55326D-569C-9DDD-0204-61E73EEFAC90}"/>
              </a:ext>
            </a:extLst>
          </p:cNvPr>
          <p:cNvPicPr/>
          <p:nvPr/>
        </p:nvPicPr>
        <p:blipFill>
          <a:blip r:embed="rId2" cstate="print"/>
          <a:stretch>
            <a:fillRect/>
          </a:stretch>
        </p:blipFill>
        <p:spPr>
          <a:xfrm>
            <a:off x="524992" y="191643"/>
            <a:ext cx="1103582" cy="1342897"/>
          </a:xfrm>
          <a:prstGeom prst="rect">
            <a:avLst/>
          </a:prstGeom>
        </p:spPr>
      </p:pic>
      <p:pic>
        <p:nvPicPr>
          <p:cNvPr id="5" name="object 5">
            <a:extLst>
              <a:ext uri="{FF2B5EF4-FFF2-40B4-BE49-F238E27FC236}">
                <a16:creationId xmlns:a16="http://schemas.microsoft.com/office/drawing/2014/main" id="{AF2C6699-20DF-DAFE-4B4A-2035CB1BD9B8}"/>
              </a:ext>
            </a:extLst>
          </p:cNvPr>
          <p:cNvPicPr/>
          <p:nvPr/>
        </p:nvPicPr>
        <p:blipFill>
          <a:blip r:embed="rId3" cstate="print"/>
          <a:stretch>
            <a:fillRect/>
          </a:stretch>
        </p:blipFill>
        <p:spPr>
          <a:xfrm>
            <a:off x="10272497" y="191643"/>
            <a:ext cx="1520062" cy="1342897"/>
          </a:xfrm>
          <a:prstGeom prst="rect">
            <a:avLst/>
          </a:prstGeom>
        </p:spPr>
      </p:pic>
      <p:sp>
        <p:nvSpPr>
          <p:cNvPr id="8" name="TextBox 7">
            <a:extLst>
              <a:ext uri="{FF2B5EF4-FFF2-40B4-BE49-F238E27FC236}">
                <a16:creationId xmlns:a16="http://schemas.microsoft.com/office/drawing/2014/main" id="{EED8D035-8B7A-F12E-7AB5-9EC906849E4B}"/>
              </a:ext>
            </a:extLst>
          </p:cNvPr>
          <p:cNvSpPr txBox="1"/>
          <p:nvPr/>
        </p:nvSpPr>
        <p:spPr>
          <a:xfrm>
            <a:off x="-211016" y="539925"/>
            <a:ext cx="12192000" cy="646331"/>
          </a:xfrm>
          <a:prstGeom prst="rect">
            <a:avLst/>
          </a:prstGeom>
          <a:noFill/>
        </p:spPr>
        <p:txBody>
          <a:bodyPr wrap="square">
            <a:spAutoFit/>
          </a:bodyPr>
          <a:lstStyle/>
          <a:p>
            <a:pPr algn="ctr"/>
            <a:r>
              <a:rPr lang="en-IN" sz="3600" b="1" dirty="0">
                <a:latin typeface="Times New Roman" panose="02020603050405020304" pitchFamily="18" charset="0"/>
                <a:cs typeface="Times New Roman" panose="02020603050405020304" pitchFamily="18" charset="0"/>
              </a:rPr>
              <a:t>REFERNCES</a:t>
            </a:r>
            <a:endParaRPr lang="en-US" sz="3600" b="1" dirty="0"/>
          </a:p>
        </p:txBody>
      </p:sp>
      <p:sp>
        <p:nvSpPr>
          <p:cNvPr id="3" name="TextBox 2">
            <a:extLst>
              <a:ext uri="{FF2B5EF4-FFF2-40B4-BE49-F238E27FC236}">
                <a16:creationId xmlns:a16="http://schemas.microsoft.com/office/drawing/2014/main" id="{CC37D85B-8A76-CBA3-7DCA-0D57390194D2}"/>
              </a:ext>
            </a:extLst>
          </p:cNvPr>
          <p:cNvSpPr txBox="1"/>
          <p:nvPr/>
        </p:nvSpPr>
        <p:spPr>
          <a:xfrm>
            <a:off x="720591" y="1882822"/>
            <a:ext cx="10750818" cy="4401205"/>
          </a:xfrm>
          <a:prstGeom prst="rect">
            <a:avLst/>
          </a:prstGeom>
          <a:noFill/>
        </p:spPr>
        <p:txBody>
          <a:bodyPr wrap="square">
            <a:spAutoFit/>
          </a:bodyPr>
          <a:lstStyle/>
          <a:p>
            <a:pPr marL="285750" indent="-285750">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C. A. Monteiro, G. Cannon, R. B. Levy, J. C. </a:t>
            </a:r>
            <a:r>
              <a:rPr lang="en-IN" sz="2000" dirty="0" err="1">
                <a:latin typeface="Times New Roman" panose="02020603050405020304" pitchFamily="18" charset="0"/>
                <a:cs typeface="Times New Roman" panose="02020603050405020304" pitchFamily="18" charset="0"/>
              </a:rPr>
              <a:t>Moubarac</a:t>
            </a:r>
            <a:r>
              <a:rPr lang="en-IN" sz="2000" dirty="0">
                <a:latin typeface="Times New Roman" panose="02020603050405020304" pitchFamily="18" charset="0"/>
                <a:cs typeface="Times New Roman" panose="02020603050405020304" pitchFamily="18" charset="0"/>
              </a:rPr>
              <a:t>, M. L. Louzada, F. Rauber, and P. C. Jaime, “Ultra-Processed Foods: What They Are and How to Identify Them,” </a:t>
            </a:r>
            <a:r>
              <a:rPr lang="en-IN" sz="2000" i="1" dirty="0">
                <a:latin typeface="Times New Roman" panose="02020603050405020304" pitchFamily="18" charset="0"/>
                <a:cs typeface="Times New Roman" panose="02020603050405020304" pitchFamily="18" charset="0"/>
              </a:rPr>
              <a:t>Public Health Nutrition</a:t>
            </a:r>
            <a:r>
              <a:rPr lang="en-IN" sz="2000" dirty="0">
                <a:latin typeface="Times New Roman" panose="02020603050405020304" pitchFamily="18" charset="0"/>
                <a:cs typeface="Times New Roman" panose="02020603050405020304" pitchFamily="18" charset="0"/>
              </a:rPr>
              <a:t>, vol. 22, no. 5, pp. 936–941, 2019.</a:t>
            </a:r>
          </a:p>
          <a:p>
            <a:pPr marL="285750" indent="-285750">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D. Batra, A. Sharma, and A. Sethi, “</a:t>
            </a:r>
            <a:r>
              <a:rPr lang="en-IN" sz="2000" dirty="0" err="1">
                <a:latin typeface="Times New Roman" panose="02020603050405020304" pitchFamily="18" charset="0"/>
                <a:cs typeface="Times New Roman" panose="02020603050405020304" pitchFamily="18" charset="0"/>
              </a:rPr>
              <a:t>RecipeDB</a:t>
            </a:r>
            <a:r>
              <a:rPr lang="en-IN" sz="2000" dirty="0">
                <a:latin typeface="Times New Roman" panose="02020603050405020304" pitchFamily="18" charset="0"/>
                <a:cs typeface="Times New Roman" panose="02020603050405020304" pitchFamily="18" charset="0"/>
              </a:rPr>
              <a:t>: A Resource for Exploring Global Recipes,” </a:t>
            </a:r>
            <a:r>
              <a:rPr lang="en-IN" sz="2000" i="1" dirty="0">
                <a:latin typeface="Times New Roman" panose="02020603050405020304" pitchFamily="18" charset="0"/>
                <a:cs typeface="Times New Roman" panose="02020603050405020304" pitchFamily="18" charset="0"/>
              </a:rPr>
              <a:t>Database: The Journal of Biological Databases and Curation</a:t>
            </a:r>
            <a:r>
              <a:rPr lang="en-IN" sz="2000" dirty="0">
                <a:latin typeface="Times New Roman" panose="02020603050405020304" pitchFamily="18" charset="0"/>
                <a:cs typeface="Times New Roman" panose="02020603050405020304" pitchFamily="18" charset="0"/>
              </a:rPr>
              <a:t>, vol. 2020, pp. 1–11, 2020.</a:t>
            </a:r>
          </a:p>
          <a:p>
            <a:pPr marL="285750" indent="-285750">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Joint FAO/WHO Expert Committee on Food Additives (JECFA), “Evaluation of Certain Food Additives: Eighty-Ninth Report of the Joint FAO/WHO Expert Committee on Food Additives,” </a:t>
            </a:r>
            <a:r>
              <a:rPr lang="en-IN" sz="2000" i="1" dirty="0">
                <a:latin typeface="Times New Roman" panose="02020603050405020304" pitchFamily="18" charset="0"/>
                <a:cs typeface="Times New Roman" panose="02020603050405020304" pitchFamily="18" charset="0"/>
              </a:rPr>
              <a:t>WHO Technical Report Series</a:t>
            </a:r>
            <a:r>
              <a:rPr lang="en-IN" sz="2000" dirty="0">
                <a:latin typeface="Times New Roman" panose="02020603050405020304" pitchFamily="18" charset="0"/>
                <a:cs typeface="Times New Roman" panose="02020603050405020304" pitchFamily="18" charset="0"/>
              </a:rPr>
              <a:t>, no. 1027, pp. 1–88, 2020.</a:t>
            </a:r>
          </a:p>
          <a:p>
            <a:pPr marL="285750" indent="-285750">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European Food Safety Authority (EFSA), “Re-Evaluation of Food Additives Already Permitted in the Union Under Regulation (EC) No 1333/2008,” </a:t>
            </a:r>
            <a:r>
              <a:rPr lang="en-IN" sz="2000" i="1" dirty="0">
                <a:latin typeface="Times New Roman" panose="02020603050405020304" pitchFamily="18" charset="0"/>
                <a:cs typeface="Times New Roman" panose="02020603050405020304" pitchFamily="18" charset="0"/>
              </a:rPr>
              <a:t>EFSA Journal</a:t>
            </a:r>
            <a:r>
              <a:rPr lang="en-IN" sz="2000" dirty="0">
                <a:latin typeface="Times New Roman" panose="02020603050405020304" pitchFamily="18" charset="0"/>
                <a:cs typeface="Times New Roman" panose="02020603050405020304" pitchFamily="18" charset="0"/>
              </a:rPr>
              <a:t>, vol. 19, no. 3, Art. no. e06500, 2021.</a:t>
            </a:r>
          </a:p>
          <a:p>
            <a:pPr marL="285750" indent="-285750">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Food Safety and Standards Authority of India (FSSAI), “Food Safety and Standards (Food Products Standards and Food Additives) Regulations,” </a:t>
            </a:r>
            <a:r>
              <a:rPr lang="en-IN" sz="2000" i="1" dirty="0">
                <a:latin typeface="Times New Roman" panose="02020603050405020304" pitchFamily="18" charset="0"/>
                <a:cs typeface="Times New Roman" panose="02020603050405020304" pitchFamily="18" charset="0"/>
              </a:rPr>
              <a:t>Ministry of Health and Family Welfare, Government of India</a:t>
            </a:r>
            <a:r>
              <a:rPr lang="en-IN" sz="2000" dirty="0">
                <a:latin typeface="Times New Roman" panose="02020603050405020304" pitchFamily="18" charset="0"/>
                <a:cs typeface="Times New Roman" panose="02020603050405020304" pitchFamily="18" charset="0"/>
              </a:rPr>
              <a:t>, New Delhi, India, Reg. Doc. FSSAI-2018-01, 2018.</a:t>
            </a:r>
          </a:p>
        </p:txBody>
      </p:sp>
    </p:spTree>
    <p:extLst>
      <p:ext uri="{BB962C8B-B14F-4D97-AF65-F5344CB8AC3E}">
        <p14:creationId xmlns:p14="http://schemas.microsoft.com/office/powerpoint/2010/main" val="19638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3638C3-FC1E-115B-AB11-EB3DABA86C37}"/>
              </a:ext>
            </a:extLst>
          </p:cNvPr>
          <p:cNvSpPr txBox="1"/>
          <p:nvPr/>
        </p:nvSpPr>
        <p:spPr>
          <a:xfrm>
            <a:off x="2909455" y="2510444"/>
            <a:ext cx="7070975" cy="1446550"/>
          </a:xfrm>
          <a:prstGeom prst="rect">
            <a:avLst/>
          </a:prstGeom>
          <a:noFill/>
        </p:spPr>
        <p:txBody>
          <a:bodyPr wrap="none" rtlCol="0">
            <a:spAutoFit/>
          </a:bodyPr>
          <a:lstStyle/>
          <a:p>
            <a:r>
              <a:rPr lang="en-US" sz="8800" b="1" dirty="0">
                <a:solidFill>
                  <a:schemeClr val="tx2">
                    <a:lumMod val="90000"/>
                    <a:lumOff val="10000"/>
                  </a:schemeClr>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4476352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Savon</Template>
  <TotalTime>267</TotalTime>
  <Words>1299</Words>
  <Application>Microsoft Office PowerPoint</Application>
  <PresentationFormat>Widescreen</PresentationFormat>
  <Paragraphs>94</Paragraphs>
  <Slides>10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Cambria Math</vt:lpstr>
      <vt:lpstr>Century Gothic</vt:lpstr>
      <vt:lpstr>Courier New</vt:lpstr>
      <vt:lpstr>Garamond</vt:lpstr>
      <vt:lpstr>Times New Roman</vt:lpstr>
      <vt:lpstr>Wingdings</vt:lpstr>
      <vt:lpstr>Savon</vt:lpstr>
      <vt:lpstr>SIMATS ENGINEERING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SIMATS ENGINEERING</dc:title>
  <dc:creator>shalini kuppam</dc:creator>
  <cp:lastModifiedBy>Khanishk V B</cp:lastModifiedBy>
  <cp:revision>8</cp:revision>
  <dcterms:created xsi:type="dcterms:W3CDTF">2026-05-12T03:48:28Z</dcterms:created>
  <dcterms:modified xsi:type="dcterms:W3CDTF">2026-07-25T08:03:08Z</dcterms:modified>
</cp:coreProperties>
</file>